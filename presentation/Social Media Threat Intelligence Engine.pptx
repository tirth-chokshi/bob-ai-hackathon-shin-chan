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Inter SemiBold"/>
      <p:regular r:id="rId14"/>
      <p:bold r:id="rId15"/>
      <p:italic r:id="rId16"/>
      <p:boldItalic r:id="rId17"/>
    </p:embeddedFont>
    <p:embeddedFont>
      <p:font typeface="Inter"/>
      <p:bold r:id="rId18"/>
      <p:boldItalic r:id="rId19"/>
    </p:embeddedFont>
    <p:embeddedFont>
      <p:font typeface="JetBrains Mono Medium"/>
      <p:regular r:id="rId20"/>
      <p:bold r:id="rId21"/>
      <p:italic r:id="rId22"/>
      <p:boldItalic r:id="rId23"/>
    </p:embeddedFont>
    <p:embeddedFont>
      <p:font typeface="JetBrains Mono SemiBold"/>
      <p:regular r:id="rId24"/>
      <p:bold r:id="rId25"/>
      <p:italic r:id="rId26"/>
      <p:boldItalic r:id="rId27"/>
    </p:embeddedFont>
    <p:embeddedFont>
      <p:font typeface="Inter ExtraBold"/>
      <p:bold r:id="rId28"/>
      <p:boldItalic r:id="rId29"/>
    </p:embeddedFont>
    <p:embeddedFont>
      <p:font typeface="JetBrains Mono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Medium-regular.fntdata"/><Relationship Id="rId22" Type="http://schemas.openxmlformats.org/officeDocument/2006/relationships/font" Target="fonts/JetBrainsMonoMedium-italic.fntdata"/><Relationship Id="rId21" Type="http://schemas.openxmlformats.org/officeDocument/2006/relationships/font" Target="fonts/JetBrainsMonoMedium-bold.fntdata"/><Relationship Id="rId24" Type="http://schemas.openxmlformats.org/officeDocument/2006/relationships/font" Target="fonts/JetBrainsMonoSemiBold-regular.fntdata"/><Relationship Id="rId23" Type="http://schemas.openxmlformats.org/officeDocument/2006/relationships/font" Target="fonts/JetBrainsMono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etBrainsMonoSemiBold-italic.fntdata"/><Relationship Id="rId25" Type="http://schemas.openxmlformats.org/officeDocument/2006/relationships/font" Target="fonts/JetBrainsMonoSemiBold-bold.fntdata"/><Relationship Id="rId28" Type="http://schemas.openxmlformats.org/officeDocument/2006/relationships/font" Target="fonts/InterExtraBold-bold.fntdata"/><Relationship Id="rId27" Type="http://schemas.openxmlformats.org/officeDocument/2006/relationships/font" Target="fonts/JetBrainsMono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Extra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JetBrainsMono-boldItalic.fntdata"/><Relationship Id="rId30" Type="http://schemas.openxmlformats.org/officeDocument/2006/relationships/font" Target="fonts/JetBrainsMon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SemiBold-bold.fntdata"/><Relationship Id="rId14" Type="http://schemas.openxmlformats.org/officeDocument/2006/relationships/font" Target="fonts/InterSemiBold-regular.fntdata"/><Relationship Id="rId17" Type="http://schemas.openxmlformats.org/officeDocument/2006/relationships/font" Target="fonts/InterSemiBold-boldItalic.fntdata"/><Relationship Id="rId16" Type="http://schemas.openxmlformats.org/officeDocument/2006/relationships/font" Target="fonts/InterSemiBold-italic.fntdata"/><Relationship Id="rId19" Type="http://schemas.openxmlformats.org/officeDocument/2006/relationships/font" Target="fonts/Inter-bold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461be4bedb56c46f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461be4bedb56c46f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461be4bedb56c46f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h461be4bedb56c46f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461be4bedb56c46f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461be4bedb56c46f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461be4bedb56c46f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h461be4bedb56c46f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h461be4bedb56c46f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h461be4bedb56c46f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h461be4bedb56c46f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h461be4bedb56c46f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h461be4bedb56c46f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h461be4bedb56c46f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h461be4bedb56c46f_1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h461be4bedb56c46f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461be4bedb56c46f_13_0)">
  <p:cSld name="Generated (h461be4bedb56c46f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00" y="95100"/>
            <a:ext cx="8934600" cy="504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" name="Google Shape;57;p14"/>
          <p:cNvGrpSpPr/>
          <p:nvPr/>
        </p:nvGrpSpPr>
        <p:grpSpPr>
          <a:xfrm>
            <a:off x="495300" y="457200"/>
            <a:ext cx="4229100" cy="266663"/>
            <a:chOff x="38100" y="38100"/>
            <a:chExt cx="4229100" cy="266663"/>
          </a:xfrm>
        </p:grpSpPr>
        <p:sp>
          <p:nvSpPr>
            <p:cNvPr id="58" name="Google Shape;58;p14"/>
            <p:cNvSpPr/>
            <p:nvPr/>
          </p:nvSpPr>
          <p:spPr>
            <a:xfrm>
              <a:off x="38100" y="38100"/>
              <a:ext cx="228600" cy="2286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114300" y="114300"/>
              <a:ext cx="76200" cy="76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233363" y="233363"/>
              <a:ext cx="71400" cy="714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FFFFFF"/>
            </a:solidFill>
            <a:ln cap="rnd" cmpd="sng" w="28575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314325" y="85725"/>
              <a:ext cx="57300" cy="57300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8600" y="104775"/>
              <a:ext cx="858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63;p14"/>
            <p:cNvSpPr txBox="1"/>
            <p:nvPr/>
          </p:nvSpPr>
          <p:spPr>
            <a:xfrm>
              <a:off x="457200" y="38100"/>
              <a:ext cx="381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111827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SHIN-CHAN // CYBER FORENSICS</a:t>
              </a:r>
              <a:endParaRPr b="0" sz="950">
                <a:solidFill>
                  <a:srgbClr val="111827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</p:grpSp>
      <p:cxnSp>
        <p:nvCxnSpPr>
          <p:cNvPr id="64" name="Google Shape;64;p14"/>
          <p:cNvCxnSpPr/>
          <p:nvPr/>
        </p:nvCxnSpPr>
        <p:spPr>
          <a:xfrm>
            <a:off x="457200" y="8763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5" name="Google Shape;65;p14"/>
          <p:cNvGrpSpPr/>
          <p:nvPr/>
        </p:nvGrpSpPr>
        <p:grpSpPr>
          <a:xfrm>
            <a:off x="6000750" y="1047750"/>
            <a:ext cx="2686200" cy="2190900"/>
            <a:chOff x="0" y="0"/>
            <a:chExt cx="2686200" cy="2190900"/>
          </a:xfrm>
        </p:grpSpPr>
        <p:sp>
          <p:nvSpPr>
            <p:cNvPr id="66" name="Google Shape;66;p14"/>
            <p:cNvSpPr/>
            <p:nvPr/>
          </p:nvSpPr>
          <p:spPr>
            <a:xfrm>
              <a:off x="0" y="0"/>
              <a:ext cx="2686200" cy="2190900"/>
            </a:xfrm>
            <a:prstGeom prst="roundRect">
              <a:avLst>
                <a:gd fmla="val 0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381000" y="381000"/>
              <a:ext cx="1905000" cy="12384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36000" y="36923"/>
                  </a:lnTo>
                  <a:lnTo>
                    <a:pt x="90000" y="92308"/>
                  </a:lnTo>
                  <a:lnTo>
                    <a:pt x="120000" y="18462"/>
                  </a:lnTo>
                  <a:lnTo>
                    <a:pt x="60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8" name="Google Shape;68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76238" y="566738"/>
              <a:ext cx="1909800" cy="10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62038" y="871538"/>
              <a:ext cx="543000" cy="543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14"/>
            <p:cNvSpPr/>
            <p:nvPr/>
          </p:nvSpPr>
          <p:spPr>
            <a:xfrm>
              <a:off x="1181100" y="990600"/>
              <a:ext cx="304800" cy="3048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DC26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333375" y="1571625"/>
              <a:ext cx="95400" cy="9540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895350" y="704850"/>
              <a:ext cx="114300" cy="114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1762125" y="1285875"/>
              <a:ext cx="95400" cy="95400"/>
            </a:xfrm>
            <a:prstGeom prst="ellipse">
              <a:avLst/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228850" y="514350"/>
              <a:ext cx="114300" cy="114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1295400" y="342900"/>
              <a:ext cx="76200" cy="7620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1266825" y="1076325"/>
              <a:ext cx="133500" cy="133500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 txBox="1"/>
            <p:nvPr/>
          </p:nvSpPr>
          <p:spPr>
            <a:xfrm>
              <a:off x="1447800" y="1028700"/>
              <a:ext cx="1143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638">
                  <a:solidFill>
                    <a:srgbClr val="DC2626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COORDINATED MOB THREAT</a:t>
              </a:r>
              <a:endParaRPr b="0" sz="638">
                <a:solidFill>
                  <a:srgbClr val="DC2626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  <p:sp>
          <p:nvSpPr>
            <p:cNvPr id="78" name="Google Shape;78;p14"/>
            <p:cNvSpPr txBox="1"/>
            <p:nvPr/>
          </p:nvSpPr>
          <p:spPr>
            <a:xfrm>
              <a:off x="1047750" y="647700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2563EB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BOT ORIGIN</a:t>
              </a:r>
              <a:endParaRPr b="0" sz="750">
                <a:solidFill>
                  <a:srgbClr val="2563E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</p:grpSp>
      <p:sp>
        <p:nvSpPr>
          <p:cNvPr id="79" name="Google Shape;79;p14"/>
          <p:cNvSpPr txBox="1"/>
          <p:nvPr/>
        </p:nvSpPr>
        <p:spPr>
          <a:xfrm>
            <a:off x="457200" y="1095375"/>
            <a:ext cx="5238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#6-</a:t>
            </a:r>
            <a:r>
              <a:rPr b="0" lang="en-GB" sz="2500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Social Media </a:t>
            </a:r>
            <a:endParaRPr b="0" sz="2500">
              <a:solidFill>
                <a:srgbClr val="111827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Threat Intelligence Engine</a:t>
            </a:r>
            <a:endParaRPr b="0" sz="2500">
              <a:solidFill>
                <a:srgbClr val="111827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cxnSp>
        <p:nvCxnSpPr>
          <p:cNvPr id="80" name="Google Shape;80;p14"/>
          <p:cNvCxnSpPr/>
          <p:nvPr/>
        </p:nvCxnSpPr>
        <p:spPr>
          <a:xfrm>
            <a:off x="457200" y="34290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14"/>
          <p:cNvSpPr txBox="1"/>
          <p:nvPr/>
        </p:nvSpPr>
        <p:spPr>
          <a:xfrm>
            <a:off x="354600" y="2085000"/>
            <a:ext cx="4369800" cy="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IBM Bob integrated </a:t>
            </a:r>
            <a:r>
              <a:rPr lang="en-GB" sz="1800">
                <a:solidFill>
                  <a:schemeClr val="dk2"/>
                </a:solidFill>
              </a:rPr>
              <a:t>Intel</a:t>
            </a:r>
            <a:r>
              <a:rPr lang="en-GB" sz="1800">
                <a:solidFill>
                  <a:schemeClr val="dk2"/>
                </a:solidFill>
              </a:rPr>
              <a:t> Engine that classify multiple posts and the threat level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559175" y="3627725"/>
            <a:ext cx="1941000" cy="11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Team: Shin-chan</a:t>
            </a:r>
            <a:endParaRPr sz="95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8925" lvl="0" marL="457200" rtl="0" algn="l">
              <a:spcBef>
                <a:spcPts val="30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Inter"/>
              <a:buChar char="+"/>
            </a:pPr>
            <a:r>
              <a:rPr lang="en-GB" sz="9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Tirth Chokshi</a:t>
            </a:r>
            <a:endParaRPr sz="95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Inter"/>
              <a:buChar char="+"/>
            </a:pPr>
            <a:r>
              <a:rPr lang="en-GB" sz="9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Jigar Jariwala</a:t>
            </a:r>
            <a:endParaRPr sz="95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Inter"/>
              <a:buChar char="+"/>
            </a:pPr>
            <a:r>
              <a:rPr lang="en-GB" sz="9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Jainik Devada</a:t>
            </a:r>
            <a:endParaRPr sz="95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Inter"/>
              <a:buChar char="+"/>
            </a:pPr>
            <a:r>
              <a:rPr lang="en-GB" sz="9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Milind Pawar</a:t>
            </a:r>
            <a:endParaRPr sz="95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2641225" y="3627725"/>
            <a:ext cx="2153400" cy="10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IBM Bob AI Innovation Hackathon</a:t>
            </a:r>
            <a:endParaRPr b="1" sz="105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INNOVAI Flagship Submission</a:t>
            </a:r>
            <a:endParaRPr sz="95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89" name="Google Shape;89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0" name="Google Shape;90;p15"/>
            <p:cNvGrpSpPr/>
            <p:nvPr/>
          </p:nvGrpSpPr>
          <p:grpSpPr>
            <a:xfrm>
              <a:off x="8420100" y="495300"/>
              <a:ext cx="333525" cy="266663"/>
              <a:chOff x="38100" y="38100"/>
              <a:chExt cx="333525" cy="266663"/>
            </a:xfrm>
          </p:grpSpPr>
          <p:sp>
            <p:nvSpPr>
              <p:cNvPr id="91" name="Google Shape;91;p15"/>
              <p:cNvSpPr/>
              <p:nvPr/>
            </p:nvSpPr>
            <p:spPr>
              <a:xfrm>
                <a:off x="38100" y="38100"/>
                <a:ext cx="228600" cy="2286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28575">
                <a:solidFill>
                  <a:srgbClr val="11182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114300" y="114300"/>
                <a:ext cx="76200" cy="762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233363" y="233363"/>
                <a:ext cx="71400" cy="714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FFFFFF"/>
              </a:solidFill>
              <a:ln cap="rnd" cmpd="sng" w="28575">
                <a:solidFill>
                  <a:srgbClr val="11182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314325" y="85725"/>
                <a:ext cx="57300" cy="57300"/>
              </a:xfrm>
              <a:prstGeom prst="ellipse">
                <a:avLst/>
              </a:prstGeom>
              <a:solidFill>
                <a:srgbClr val="DC26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95" name="Google Shape;95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28600" y="104775"/>
                <a:ext cx="858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96" name="Google Shape;96;p15"/>
            <p:cNvCxnSpPr/>
            <p:nvPr/>
          </p:nvCxnSpPr>
          <p:spPr>
            <a:xfrm>
              <a:off x="457200" y="123825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7" name="Google Shape;97;p15"/>
          <p:cNvSpPr txBox="1"/>
          <p:nvPr/>
        </p:nvSpPr>
        <p:spPr>
          <a:xfrm>
            <a:off x="457200" y="457200"/>
            <a:ext cx="7772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40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Officers face a coordination problem, not just a content problem.</a:t>
            </a:r>
            <a:endParaRPr b="0" sz="2040">
              <a:solidFill>
                <a:srgbClr val="111827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98" name="Google Shape;98;p15"/>
          <p:cNvGrpSpPr/>
          <p:nvPr/>
        </p:nvGrpSpPr>
        <p:grpSpPr>
          <a:xfrm>
            <a:off x="457200" y="1466850"/>
            <a:ext cx="3962400" cy="3067200"/>
            <a:chOff x="0" y="0"/>
            <a:chExt cx="3962400" cy="3067200"/>
          </a:xfrm>
        </p:grpSpPr>
        <p:sp>
          <p:nvSpPr>
            <p:cNvPr id="99" name="Google Shape;99;p15"/>
            <p:cNvSpPr/>
            <p:nvPr/>
          </p:nvSpPr>
          <p:spPr>
            <a:xfrm>
              <a:off x="0" y="0"/>
              <a:ext cx="3962400" cy="26670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 txBox="1"/>
            <p:nvPr/>
          </p:nvSpPr>
          <p:spPr>
            <a:xfrm>
              <a:off x="114300" y="38100"/>
              <a:ext cx="3733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111827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SYSTEMIC BLINDSPOTS // TRADITIONAL ANALYSIS</a:t>
              </a:r>
              <a:endParaRPr b="0" sz="900">
                <a:solidFill>
                  <a:srgbClr val="111827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  <p:grpSp>
          <p:nvGrpSpPr>
            <p:cNvPr id="101" name="Google Shape;101;p15"/>
            <p:cNvGrpSpPr/>
            <p:nvPr/>
          </p:nvGrpSpPr>
          <p:grpSpPr>
            <a:xfrm>
              <a:off x="0" y="381000"/>
              <a:ext cx="3962400" cy="1143000"/>
              <a:chOff x="0" y="0"/>
              <a:chExt cx="3962400" cy="1143000"/>
            </a:xfrm>
          </p:grpSpPr>
          <p:sp>
            <p:nvSpPr>
              <p:cNvPr id="102" name="Google Shape;102;p15"/>
              <p:cNvSpPr/>
              <p:nvPr/>
            </p:nvSpPr>
            <p:spPr>
              <a:xfrm>
                <a:off x="0" y="0"/>
                <a:ext cx="3962400" cy="1143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0" y="0"/>
                <a:ext cx="38100" cy="1143000"/>
              </a:xfrm>
              <a:prstGeom prst="rect">
                <a:avLst/>
              </a:prstGeom>
              <a:solidFill>
                <a:srgbClr val="4B556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5"/>
              <p:cNvSpPr txBox="1"/>
              <p:nvPr/>
            </p:nvSpPr>
            <p:spPr>
              <a:xfrm>
                <a:off x="152400" y="133350"/>
                <a:ext cx="365760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Isolation vs. Lockstep Amplification</a:t>
                </a:r>
                <a:endParaRPr b="1" sz="11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Individual posts often appear harmless in isolation, but hundreds of coordinated accounts acting in lockstep can manufacture mass panic.</a:t>
                </a:r>
                <a:endParaRPr b="0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05" name="Google Shape;105;p15"/>
            <p:cNvGrpSpPr/>
            <p:nvPr/>
          </p:nvGrpSpPr>
          <p:grpSpPr>
            <a:xfrm>
              <a:off x="0" y="1638300"/>
              <a:ext cx="3962400" cy="1428900"/>
              <a:chOff x="0" y="0"/>
              <a:chExt cx="3962400" cy="1428900"/>
            </a:xfrm>
          </p:grpSpPr>
          <p:sp>
            <p:nvSpPr>
              <p:cNvPr id="106" name="Google Shape;106;p15"/>
              <p:cNvSpPr/>
              <p:nvPr/>
            </p:nvSpPr>
            <p:spPr>
              <a:xfrm>
                <a:off x="0" y="0"/>
                <a:ext cx="3962400" cy="14289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5"/>
              <p:cNvSpPr/>
              <p:nvPr/>
            </p:nvSpPr>
            <p:spPr>
              <a:xfrm>
                <a:off x="0" y="0"/>
                <a:ext cx="38100" cy="1428900"/>
              </a:xfrm>
              <a:prstGeom prst="rect">
                <a:avLst/>
              </a:prstGeom>
              <a:solidFill>
                <a:srgbClr val="4B556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5"/>
              <p:cNvSpPr txBox="1"/>
              <p:nvPr/>
            </p:nvSpPr>
            <p:spPr>
              <a:xfrm>
                <a:off x="152400" y="133350"/>
                <a:ext cx="3657600" cy="116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Inadequacy of Standard Monitoring</a:t>
                </a:r>
                <a:endParaRPr b="1" sz="11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Traditional manual keyword monitoring is simply too slow and misses synchronized behavior entirely.</a:t>
                </a:r>
                <a:endParaRPr b="0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Furthermore, standard sentiment analysis flags anger but cannot distinguish between organic public outrage and artificial astroturfing.</a:t>
                </a:r>
                <a:endParaRPr b="0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09" name="Google Shape;109;p15"/>
          <p:cNvGrpSpPr/>
          <p:nvPr/>
        </p:nvGrpSpPr>
        <p:grpSpPr>
          <a:xfrm>
            <a:off x="4724400" y="1466850"/>
            <a:ext cx="3962400" cy="3067050"/>
            <a:chOff x="0" y="0"/>
            <a:chExt cx="3962400" cy="3067050"/>
          </a:xfrm>
        </p:grpSpPr>
        <p:sp>
          <p:nvSpPr>
            <p:cNvPr id="110" name="Google Shape;110;p15"/>
            <p:cNvSpPr/>
            <p:nvPr/>
          </p:nvSpPr>
          <p:spPr>
            <a:xfrm>
              <a:off x="0" y="0"/>
              <a:ext cx="3962400" cy="266700"/>
            </a:xfrm>
            <a:prstGeom prst="rect">
              <a:avLst/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 txBox="1"/>
            <p:nvPr/>
          </p:nvSpPr>
          <p:spPr>
            <a:xfrm>
              <a:off x="114300" y="38100"/>
              <a:ext cx="3733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DC2626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THREAT SEVERITY &amp; OPERATIONAL REQUIREMENT</a:t>
              </a:r>
              <a:endParaRPr b="0" sz="900">
                <a:solidFill>
                  <a:srgbClr val="DC2626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  <p:grpSp>
          <p:nvGrpSpPr>
            <p:cNvPr id="112" name="Google Shape;112;p15"/>
            <p:cNvGrpSpPr/>
            <p:nvPr/>
          </p:nvGrpSpPr>
          <p:grpSpPr>
            <a:xfrm>
              <a:off x="0" y="381000"/>
              <a:ext cx="3962400" cy="1238400"/>
              <a:chOff x="0" y="0"/>
              <a:chExt cx="3962400" cy="1238400"/>
            </a:xfrm>
          </p:grpSpPr>
          <p:sp>
            <p:nvSpPr>
              <p:cNvPr id="113" name="Google Shape;113;p15"/>
              <p:cNvSpPr/>
              <p:nvPr/>
            </p:nvSpPr>
            <p:spPr>
              <a:xfrm>
                <a:off x="0" y="0"/>
                <a:ext cx="3962400" cy="1238400"/>
              </a:xfrm>
              <a:prstGeom prst="rect">
                <a:avLst/>
              </a:prstGeom>
              <a:solidFill>
                <a:srgbClr val="FEF2F2"/>
              </a:solidFill>
              <a:ln cap="flat" cmpd="sng" w="9525">
                <a:solidFill>
                  <a:srgbClr val="FEE2E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0" y="0"/>
                <a:ext cx="38100" cy="1238400"/>
              </a:xfrm>
              <a:prstGeom prst="rect">
                <a:avLst/>
              </a:prstGeom>
              <a:solidFill>
                <a:srgbClr val="DC26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5" name="Google Shape;115;p15"/>
              <p:cNvGrpSpPr/>
              <p:nvPr/>
            </p:nvGrpSpPr>
            <p:grpSpPr>
              <a:xfrm>
                <a:off x="152400" y="152400"/>
                <a:ext cx="228600" cy="228600"/>
                <a:chOff x="0" y="0"/>
                <a:chExt cx="228600" cy="228600"/>
              </a:xfrm>
            </p:grpSpPr>
            <p:sp>
              <p:nvSpPr>
                <p:cNvPr id="116" name="Google Shape;116;p15"/>
                <p:cNvSpPr/>
                <p:nvPr/>
              </p:nvSpPr>
              <p:spPr>
                <a:xfrm>
                  <a:off x="0" y="0"/>
                  <a:ext cx="228600" cy="2286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FEE2E2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" name="Google Shape;117;p15"/>
                <p:cNvSpPr/>
                <p:nvPr/>
              </p:nvSpPr>
              <p:spPr>
                <a:xfrm>
                  <a:off x="114300" y="57150"/>
                  <a:ext cx="0" cy="119100"/>
                </a:xfrm>
                <a:custGeom>
                  <a:rect b="b" l="l" r="r" t="t"/>
                  <a:pathLst>
                    <a:path extrusionOk="0" fill="none" h="120000" w="120000">
                      <a:moveTo>
                        <a:pt x="0" y="0"/>
                      </a:moveTo>
                      <a:lnTo>
                        <a:pt x="0" y="76800"/>
                      </a:lnTo>
                      <a:moveTo>
                        <a:pt x="0" y="115200"/>
                      </a:moveTo>
                      <a:lnTo>
                        <a:pt x="0" y="120000"/>
                      </a:lnTo>
                    </a:path>
                  </a:pathLst>
                </a:custGeom>
                <a:solidFill>
                  <a:srgbClr val="FFFFFF"/>
                </a:solidFill>
                <a:ln cap="rnd" cmpd="sng" w="19050">
                  <a:solidFill>
                    <a:srgbClr val="DC262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18" name="Google Shape;118;p15"/>
              <p:cNvSpPr txBox="1"/>
              <p:nvPr/>
            </p:nvSpPr>
            <p:spPr>
              <a:xfrm>
                <a:off x="457200" y="152400"/>
                <a:ext cx="3352800" cy="93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DC2626"/>
                    </a:solidFill>
                    <a:latin typeface="Inter"/>
                    <a:ea typeface="Inter"/>
                    <a:cs typeface="Inter"/>
                    <a:sym typeface="Inter"/>
                  </a:rPr>
                  <a:t>Severe Real-World Consequences</a:t>
                </a:r>
                <a:endParaRPr b="1" sz="11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991B1B"/>
                    </a:solidFill>
                    <a:latin typeface="Inter"/>
                    <a:ea typeface="Inter"/>
                    <a:cs typeface="Inter"/>
                    <a:sym typeface="Inter"/>
                  </a:rPr>
                  <a:t>This hidden danger is severe: online rumors directly trigger real-world arson, communal clashes, and mob lynching within hours.</a:t>
                </a:r>
                <a:endParaRPr b="0" sz="1000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9" name="Google Shape;119;p15"/>
            <p:cNvGrpSpPr/>
            <p:nvPr/>
          </p:nvGrpSpPr>
          <p:grpSpPr>
            <a:xfrm>
              <a:off x="0" y="1733550"/>
              <a:ext cx="3962400" cy="1333500"/>
              <a:chOff x="0" y="0"/>
              <a:chExt cx="3962400" cy="1333500"/>
            </a:xfrm>
          </p:grpSpPr>
          <p:sp>
            <p:nvSpPr>
              <p:cNvPr id="120" name="Google Shape;120;p15"/>
              <p:cNvSpPr/>
              <p:nvPr/>
            </p:nvSpPr>
            <p:spPr>
              <a:xfrm>
                <a:off x="0" y="0"/>
                <a:ext cx="3962400" cy="1333500"/>
              </a:xfrm>
              <a:prstGeom prst="rect">
                <a:avLst/>
              </a:prstGeom>
              <a:solidFill>
                <a:srgbClr val="EFF6FF"/>
              </a:solidFill>
              <a:ln cap="flat" cmpd="sng" w="9525">
                <a:solidFill>
                  <a:srgbClr val="BFDB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>
                <a:off x="0" y="0"/>
                <a:ext cx="38100" cy="13335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5"/>
              <p:cNvSpPr txBox="1"/>
              <p:nvPr/>
            </p:nvSpPr>
            <p:spPr>
              <a:xfrm>
                <a:off x="152400" y="152400"/>
                <a:ext cx="3657600" cy="10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00">
                    <a:solidFill>
                      <a:srgbClr val="2563E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TARGET AUDIENCE REQUIREMENT</a:t>
                </a:r>
                <a:endParaRPr b="1" sz="1000">
                  <a:solidFill>
                    <a:srgbClr val="2563EB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GB" sz="1000">
                    <a:solidFill>
                      <a:srgbClr val="1E40AF"/>
                    </a:solidFill>
                    <a:latin typeface="Inter"/>
                    <a:ea typeface="Inter"/>
                    <a:cs typeface="Inter"/>
                    <a:sym typeface="Inter"/>
                  </a:rPr>
                  <a:t>Police Cyber Cells, Law Enforcement Agencies, and Homeland Security Analysts</a:t>
                </a:r>
                <a:endParaRPr b="1" sz="100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1E3A8A"/>
                    </a:solidFill>
                    <a:latin typeface="Inter"/>
                    <a:ea typeface="Inter"/>
                    <a:cs typeface="Inter"/>
                    <a:sym typeface="Inter"/>
                  </a:rPr>
                  <a:t>Require a solution that prioritizes behavioral coordination over isolated content analysis.</a:t>
                </a:r>
                <a:endParaRPr b="0" sz="10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28" name="Google Shape;128;p16"/>
            <p:cNvSpPr/>
            <p:nvPr/>
          </p:nvSpPr>
          <p:spPr>
            <a:xfrm>
              <a:off x="0" y="0"/>
              <a:ext cx="4572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4572000" y="0"/>
              <a:ext cx="4572000" cy="514350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0" name="Google Shape;130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81525" y="9525"/>
              <a:ext cx="4362600" cy="5048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1" name="Google Shape;131;p16"/>
            <p:cNvCxnSpPr/>
            <p:nvPr/>
          </p:nvCxnSpPr>
          <p:spPr>
            <a:xfrm>
              <a:off x="4572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32" name="Google Shape;132;p16"/>
            <p:cNvGrpSpPr/>
            <p:nvPr/>
          </p:nvGrpSpPr>
          <p:grpSpPr>
            <a:xfrm>
              <a:off x="495300" y="419100"/>
              <a:ext cx="333525" cy="266663"/>
              <a:chOff x="38100" y="38100"/>
              <a:chExt cx="333525" cy="266663"/>
            </a:xfrm>
          </p:grpSpPr>
          <p:sp>
            <p:nvSpPr>
              <p:cNvPr id="133" name="Google Shape;133;p16"/>
              <p:cNvSpPr/>
              <p:nvPr/>
            </p:nvSpPr>
            <p:spPr>
              <a:xfrm>
                <a:off x="38100" y="38100"/>
                <a:ext cx="228600" cy="2286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28575">
                <a:solidFill>
                  <a:srgbClr val="11182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6"/>
              <p:cNvSpPr/>
              <p:nvPr/>
            </p:nvSpPr>
            <p:spPr>
              <a:xfrm>
                <a:off x="114300" y="114300"/>
                <a:ext cx="76200" cy="762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16"/>
              <p:cNvSpPr/>
              <p:nvPr/>
            </p:nvSpPr>
            <p:spPr>
              <a:xfrm>
                <a:off x="233363" y="233363"/>
                <a:ext cx="71400" cy="714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FFFFFF"/>
              </a:solidFill>
              <a:ln cap="rnd" cmpd="sng" w="28575">
                <a:solidFill>
                  <a:srgbClr val="11182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6"/>
              <p:cNvSpPr/>
              <p:nvPr/>
            </p:nvSpPr>
            <p:spPr>
              <a:xfrm>
                <a:off x="314325" y="85725"/>
                <a:ext cx="57300" cy="57300"/>
              </a:xfrm>
              <a:prstGeom prst="ellipse">
                <a:avLst/>
              </a:prstGeom>
              <a:solidFill>
                <a:srgbClr val="DC26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37" name="Google Shape;137;p1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28600" y="104775"/>
                <a:ext cx="858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8" name="Google Shape;138;p16"/>
            <p:cNvSpPr txBox="1"/>
            <p:nvPr/>
          </p:nvSpPr>
          <p:spPr>
            <a:xfrm>
              <a:off x="914400" y="419100"/>
              <a:ext cx="285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111827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SHIN-CHAN // CYBER FORENSICS</a:t>
              </a:r>
              <a:endParaRPr b="0" sz="950">
                <a:solidFill>
                  <a:srgbClr val="111827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</p:grpSp>
      <p:sp>
        <p:nvSpPr>
          <p:cNvPr id="139" name="Google Shape;139;p16"/>
          <p:cNvSpPr txBox="1"/>
          <p:nvPr/>
        </p:nvSpPr>
        <p:spPr>
          <a:xfrm>
            <a:off x="457200" y="876300"/>
            <a:ext cx="37149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35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We turn chaotic data into actionable police intelligence in under 60 seconds.</a:t>
            </a:r>
            <a:endParaRPr b="0" sz="2035">
              <a:solidFill>
                <a:srgbClr val="111827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40" name="Google Shape;140;p16"/>
          <p:cNvGrpSpPr/>
          <p:nvPr/>
        </p:nvGrpSpPr>
        <p:grpSpPr>
          <a:xfrm>
            <a:off x="457200" y="2266950"/>
            <a:ext cx="3657600" cy="781200"/>
            <a:chOff x="0" y="0"/>
            <a:chExt cx="3657600" cy="781200"/>
          </a:xfrm>
        </p:grpSpPr>
        <p:sp>
          <p:nvSpPr>
            <p:cNvPr id="141" name="Google Shape;141;p16"/>
            <p:cNvSpPr/>
            <p:nvPr/>
          </p:nvSpPr>
          <p:spPr>
            <a:xfrm>
              <a:off x="0" y="0"/>
              <a:ext cx="3657600" cy="78120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6"/>
            <p:cNvSpPr/>
            <p:nvPr/>
          </p:nvSpPr>
          <p:spPr>
            <a:xfrm>
              <a:off x="0" y="0"/>
              <a:ext cx="38100" cy="781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190500" y="114300"/>
              <a:ext cx="3333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590">
                  <a:solidFill>
                    <a:srgbClr val="11182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&lt; 60 SECONDS</a:t>
              </a:r>
              <a:endParaRPr b="0" sz="2590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879">
                  <a:solidFill>
                    <a:srgbClr val="2563EB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BEHAVIOR-FIRST REAL-TIME PIPELINE</a:t>
              </a:r>
              <a:endParaRPr b="0" sz="879">
                <a:solidFill>
                  <a:srgbClr val="2563E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</p:grpSp>
      <p:grpSp>
        <p:nvGrpSpPr>
          <p:cNvPr id="144" name="Google Shape;144;p16"/>
          <p:cNvGrpSpPr/>
          <p:nvPr/>
        </p:nvGrpSpPr>
        <p:grpSpPr>
          <a:xfrm>
            <a:off x="457200" y="3219450"/>
            <a:ext cx="3657600" cy="1447800"/>
            <a:chOff x="0" y="0"/>
            <a:chExt cx="3657600" cy="1447800"/>
          </a:xfrm>
        </p:grpSpPr>
        <p:sp>
          <p:nvSpPr>
            <p:cNvPr id="145" name="Google Shape;145;p16"/>
            <p:cNvSpPr/>
            <p:nvPr/>
          </p:nvSpPr>
          <p:spPr>
            <a:xfrm>
              <a:off x="0" y="0"/>
              <a:ext cx="3657600" cy="14478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0" y="0"/>
              <a:ext cx="3657600" cy="228600"/>
            </a:xfrm>
            <a:prstGeom prst="rect">
              <a:avLst/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6"/>
            <p:cNvSpPr txBox="1"/>
            <p:nvPr/>
          </p:nvSpPr>
          <p:spPr>
            <a:xfrm>
              <a:off x="114300" y="28575"/>
              <a:ext cx="34290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FFFFFF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STATUTORY COMPLIANCE &amp; CHAIN OF CUSTODY</a:t>
              </a:r>
              <a:endParaRPr b="0" sz="850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  <p:sp>
          <p:nvSpPr>
            <p:cNvPr id="148" name="Google Shape;148;p16"/>
            <p:cNvSpPr txBox="1"/>
            <p:nvPr/>
          </p:nvSpPr>
          <p:spPr>
            <a:xfrm>
              <a:off x="133350" y="304800"/>
              <a:ext cx="3390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BNS 2023 Statutory Offense Mapping</a:t>
              </a:r>
              <a:endParaRPr b="1" sz="9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Automated statutory offense classification mapped directly under Bharatiya Nyaya Sanhita.</a:t>
              </a:r>
              <a:endParaRPr b="0" sz="8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SHA-256 Forensic Audit Trail</a:t>
              </a:r>
              <a:endParaRPr b="1" sz="9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Cryptographic tamper-evident chain of custody guarantees court-admissible evidence.</a:t>
              </a:r>
              <a:endParaRPr b="0" sz="8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49" name="Google Shape;149;p16"/>
          <p:cNvSpPr txBox="1"/>
          <p:nvPr/>
        </p:nvSpPr>
        <p:spPr>
          <a:xfrm>
            <a:off x="4876800" y="304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50">
                <a:solidFill>
                  <a:srgbClr val="11182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5-STAGE INTELLIGENCE PIPELINE</a:t>
            </a:r>
            <a:endParaRPr b="1" sz="950">
              <a:solidFill>
                <a:srgbClr val="11182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pSp>
        <p:nvGrpSpPr>
          <p:cNvPr id="150" name="Google Shape;150;p16"/>
          <p:cNvGrpSpPr/>
          <p:nvPr/>
        </p:nvGrpSpPr>
        <p:grpSpPr>
          <a:xfrm>
            <a:off x="4876800" y="609600"/>
            <a:ext cx="3810000" cy="685800"/>
            <a:chOff x="0" y="0"/>
            <a:chExt cx="3810000" cy="685800"/>
          </a:xfrm>
        </p:grpSpPr>
        <p:sp>
          <p:nvSpPr>
            <p:cNvPr id="151" name="Google Shape;151;p16"/>
            <p:cNvSpPr/>
            <p:nvPr/>
          </p:nvSpPr>
          <p:spPr>
            <a:xfrm>
              <a:off x="0" y="0"/>
              <a:ext cx="3810000" cy="685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0" y="0"/>
              <a:ext cx="38100" cy="685800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6"/>
            <p:cNvSpPr txBox="1"/>
            <p:nvPr/>
          </p:nvSpPr>
          <p:spPr>
            <a:xfrm>
              <a:off x="152400" y="95250"/>
              <a:ext cx="35052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111827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STEP 01 // INGESTION</a:t>
              </a:r>
              <a:endParaRPr b="0" sz="850">
                <a:solidFill>
                  <a:srgbClr val="111827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Raw Social Data Stream</a:t>
              </a:r>
              <a:endParaRPr b="1" sz="10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Ingests live social data via an automated X API v2 stream.</a:t>
              </a:r>
              <a:endParaRPr b="0" sz="8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54" name="Google Shape;15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2275" y="1295400"/>
            <a:ext cx="19200" cy="1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p16"/>
          <p:cNvGrpSpPr/>
          <p:nvPr/>
        </p:nvGrpSpPr>
        <p:grpSpPr>
          <a:xfrm>
            <a:off x="4876800" y="1409700"/>
            <a:ext cx="3810000" cy="685800"/>
            <a:chOff x="0" y="0"/>
            <a:chExt cx="3810000" cy="685800"/>
          </a:xfrm>
        </p:grpSpPr>
        <p:sp>
          <p:nvSpPr>
            <p:cNvPr id="156" name="Google Shape;156;p16"/>
            <p:cNvSpPr/>
            <p:nvPr/>
          </p:nvSpPr>
          <p:spPr>
            <a:xfrm>
              <a:off x="0" y="0"/>
              <a:ext cx="3810000" cy="685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0" y="0"/>
              <a:ext cx="38100" cy="6858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6"/>
            <p:cNvSpPr txBox="1"/>
            <p:nvPr/>
          </p:nvSpPr>
          <p:spPr>
            <a:xfrm>
              <a:off x="152400" y="95250"/>
              <a:ext cx="35052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23">
                  <a:solidFill>
                    <a:srgbClr val="2563EB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STEP 02 // SYNCHRONY DETECTION</a:t>
              </a:r>
              <a:endParaRPr b="0" sz="723">
                <a:solidFill>
                  <a:srgbClr val="2563E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93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5-Signal Coordination Engine</a:t>
              </a:r>
              <a:endParaRPr b="1" sz="893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723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Detects accounts acting in locked synchrony across text, links, and retweets within 60 seconds.</a:t>
              </a:r>
              <a:endParaRPr b="0" sz="723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59" name="Google Shape;15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2275" y="2095500"/>
            <a:ext cx="19200" cy="1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" name="Google Shape;160;p16"/>
          <p:cNvGrpSpPr/>
          <p:nvPr/>
        </p:nvGrpSpPr>
        <p:grpSpPr>
          <a:xfrm>
            <a:off x="4876800" y="2209800"/>
            <a:ext cx="3810000" cy="685800"/>
            <a:chOff x="0" y="0"/>
            <a:chExt cx="3810000" cy="685800"/>
          </a:xfrm>
        </p:grpSpPr>
        <p:sp>
          <p:nvSpPr>
            <p:cNvPr id="161" name="Google Shape;161;p16"/>
            <p:cNvSpPr/>
            <p:nvPr/>
          </p:nvSpPr>
          <p:spPr>
            <a:xfrm>
              <a:off x="0" y="0"/>
              <a:ext cx="3810000" cy="685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0" y="0"/>
              <a:ext cx="38100" cy="6858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6"/>
            <p:cNvSpPr txBox="1"/>
            <p:nvPr/>
          </p:nvSpPr>
          <p:spPr>
            <a:xfrm>
              <a:off x="152400" y="95250"/>
              <a:ext cx="35052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23">
                  <a:solidFill>
                    <a:srgbClr val="2563EB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STEP 03 // NETWORK ANALYSIS</a:t>
              </a:r>
              <a:endParaRPr b="0" sz="723">
                <a:solidFill>
                  <a:srgbClr val="2563E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93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Louvain Community Clustering</a:t>
              </a:r>
              <a:endParaRPr b="1" sz="893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723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Separates organic public chatter from malicious coordinated bot networks.</a:t>
              </a:r>
              <a:endParaRPr b="0" sz="723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64" name="Google Shape;16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2275" y="2895600"/>
            <a:ext cx="19200" cy="1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" name="Google Shape;165;p16"/>
          <p:cNvGrpSpPr/>
          <p:nvPr/>
        </p:nvGrpSpPr>
        <p:grpSpPr>
          <a:xfrm>
            <a:off x="4876800" y="3009900"/>
            <a:ext cx="3810000" cy="685800"/>
            <a:chOff x="0" y="0"/>
            <a:chExt cx="3810000" cy="685800"/>
          </a:xfrm>
        </p:grpSpPr>
        <p:sp>
          <p:nvSpPr>
            <p:cNvPr id="166" name="Google Shape;166;p16"/>
            <p:cNvSpPr/>
            <p:nvPr/>
          </p:nvSpPr>
          <p:spPr>
            <a:xfrm>
              <a:off x="0" y="0"/>
              <a:ext cx="3810000" cy="685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0" y="0"/>
              <a:ext cx="38100" cy="6858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6"/>
            <p:cNvSpPr txBox="1"/>
            <p:nvPr/>
          </p:nvSpPr>
          <p:spPr>
            <a:xfrm>
              <a:off x="152400" y="95250"/>
              <a:ext cx="35052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23">
                  <a:solidFill>
                    <a:srgbClr val="2563EB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STEP 04 // THREAT EVALUATION</a:t>
              </a:r>
              <a:endParaRPr b="0" sz="723">
                <a:solidFill>
                  <a:srgbClr val="2563E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93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IBM Bob Reasoning Engine</a:t>
              </a:r>
              <a:endParaRPr b="1" sz="893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723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Analyzes campaign intent and extracts actionable physical gathering calls.</a:t>
              </a:r>
              <a:endParaRPr b="0" sz="723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69" name="Google Shape;169;p16"/>
          <p:cNvCxnSpPr/>
          <p:nvPr/>
        </p:nvCxnSpPr>
        <p:spPr>
          <a:xfrm>
            <a:off x="6781800" y="3695700"/>
            <a:ext cx="0" cy="11430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0" name="Google Shape;170;p16"/>
          <p:cNvGrpSpPr/>
          <p:nvPr/>
        </p:nvGrpSpPr>
        <p:grpSpPr>
          <a:xfrm>
            <a:off x="4876800" y="3810000"/>
            <a:ext cx="3810000" cy="857400"/>
            <a:chOff x="0" y="0"/>
            <a:chExt cx="3810000" cy="857400"/>
          </a:xfrm>
        </p:grpSpPr>
        <p:sp>
          <p:nvSpPr>
            <p:cNvPr id="171" name="Google Shape;171;p16"/>
            <p:cNvSpPr/>
            <p:nvPr/>
          </p:nvSpPr>
          <p:spPr>
            <a:xfrm>
              <a:off x="0" y="0"/>
              <a:ext cx="3810000" cy="8574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DC26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0" y="0"/>
              <a:ext cx="38100" cy="857400"/>
            </a:xfrm>
            <a:prstGeom prst="rect">
              <a:avLst/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6"/>
            <p:cNvSpPr txBox="1"/>
            <p:nvPr/>
          </p:nvSpPr>
          <p:spPr>
            <a:xfrm>
              <a:off x="152400" y="95250"/>
              <a:ext cx="35052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STEP 05 // ACTIONABLE OUTPUT</a:t>
              </a:r>
              <a:endParaRPr b="1" sz="85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SHO-Ready Intelligence Memo</a:t>
              </a:r>
              <a:endParaRPr b="1" sz="1050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7F1D1D"/>
                  </a:solidFill>
                  <a:latin typeface="Inter"/>
                  <a:ea typeface="Inter"/>
                  <a:cs typeface="Inter"/>
                  <a:sym typeface="Inter"/>
                </a:rPr>
                <a:t>Generates a complete memo featuring SHA-256 tamper-evident chain &amp; BNS 2023 statutory offense mapping.</a:t>
              </a:r>
              <a:endParaRPr b="0" sz="850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79" name="Google Shape;179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0" name="Google Shape;180;p17"/>
            <p:cNvGrpSpPr/>
            <p:nvPr/>
          </p:nvGrpSpPr>
          <p:grpSpPr>
            <a:xfrm>
              <a:off x="8420100" y="381000"/>
              <a:ext cx="333525" cy="266663"/>
              <a:chOff x="38100" y="38100"/>
              <a:chExt cx="333525" cy="266663"/>
            </a:xfrm>
          </p:grpSpPr>
          <p:sp>
            <p:nvSpPr>
              <p:cNvPr id="181" name="Google Shape;181;p17"/>
              <p:cNvSpPr/>
              <p:nvPr/>
            </p:nvSpPr>
            <p:spPr>
              <a:xfrm>
                <a:off x="38100" y="38100"/>
                <a:ext cx="228600" cy="2286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28575">
                <a:solidFill>
                  <a:srgbClr val="11182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7"/>
              <p:cNvSpPr/>
              <p:nvPr/>
            </p:nvSpPr>
            <p:spPr>
              <a:xfrm>
                <a:off x="114300" y="114300"/>
                <a:ext cx="76200" cy="762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7"/>
              <p:cNvSpPr/>
              <p:nvPr/>
            </p:nvSpPr>
            <p:spPr>
              <a:xfrm>
                <a:off x="233363" y="233363"/>
                <a:ext cx="71400" cy="714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FFFFFF"/>
              </a:solidFill>
              <a:ln cap="rnd" cmpd="sng" w="28575">
                <a:solidFill>
                  <a:srgbClr val="11182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7"/>
              <p:cNvSpPr/>
              <p:nvPr/>
            </p:nvSpPr>
            <p:spPr>
              <a:xfrm>
                <a:off x="314325" y="85725"/>
                <a:ext cx="57300" cy="57300"/>
              </a:xfrm>
              <a:prstGeom prst="ellipse">
                <a:avLst/>
              </a:prstGeom>
              <a:solidFill>
                <a:srgbClr val="DC26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85" name="Google Shape;185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28600" y="104775"/>
                <a:ext cx="858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186" name="Google Shape;186;p17"/>
            <p:cNvCxnSpPr/>
            <p:nvPr/>
          </p:nvCxnSpPr>
          <p:spPr>
            <a:xfrm>
              <a:off x="457200" y="104775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7" name="Google Shape;187;p17"/>
          <p:cNvSpPr txBox="1"/>
          <p:nvPr/>
        </p:nvSpPr>
        <p:spPr>
          <a:xfrm>
            <a:off x="457200" y="342900"/>
            <a:ext cx="7715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00">
                <a:solidFill>
                  <a:srgbClr val="2563E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ARCHITECTURE // PIPELINE SPECIFICATION</a:t>
            </a:r>
            <a:endParaRPr b="0" sz="900">
              <a:solidFill>
                <a:srgbClr val="2563EB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GB" sz="2000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 multi-signal graph fusion pipeline powered by IBM Bob.</a:t>
            </a:r>
            <a:endParaRPr b="0" sz="2000">
              <a:solidFill>
                <a:srgbClr val="111827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88" name="Google Shape;188;p17"/>
          <p:cNvGrpSpPr/>
          <p:nvPr/>
        </p:nvGrpSpPr>
        <p:grpSpPr>
          <a:xfrm>
            <a:off x="457200" y="1200150"/>
            <a:ext cx="2552700" cy="1714500"/>
            <a:chOff x="0" y="0"/>
            <a:chExt cx="2552700" cy="1714500"/>
          </a:xfrm>
        </p:grpSpPr>
        <p:sp>
          <p:nvSpPr>
            <p:cNvPr id="189" name="Google Shape;189;p17"/>
            <p:cNvSpPr/>
            <p:nvPr/>
          </p:nvSpPr>
          <p:spPr>
            <a:xfrm>
              <a:off x="0" y="0"/>
              <a:ext cx="2552700" cy="1714500"/>
            </a:xfrm>
            <a:prstGeom prst="roundRect">
              <a:avLst>
                <a:gd fmla="val 0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0" y="0"/>
              <a:ext cx="2552700" cy="285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7"/>
            <p:cNvSpPr txBox="1"/>
            <p:nvPr/>
          </p:nvSpPr>
          <p:spPr>
            <a:xfrm>
              <a:off x="152400" y="152400"/>
              <a:ext cx="2247900" cy="14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111827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01 / INGESTION</a:t>
              </a:r>
              <a:endParaRPr b="0" sz="900">
                <a:solidFill>
                  <a:srgbClr val="111827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X API v2 &amp; Relational Storage</a:t>
              </a:r>
              <a:endParaRPr b="1" sz="10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-GB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Data ingestion normalizes raw X API v2 JSON payloads into structured relational SQLite storage for performant downstream query processing.</a:t>
              </a:r>
              <a:endParaRPr b="0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2" name="Google Shape;192;p17"/>
          <p:cNvGrpSpPr/>
          <p:nvPr/>
        </p:nvGrpSpPr>
        <p:grpSpPr>
          <a:xfrm>
            <a:off x="3162300" y="1200150"/>
            <a:ext cx="5524500" cy="1714500"/>
            <a:chOff x="0" y="0"/>
            <a:chExt cx="5524500" cy="1714500"/>
          </a:xfrm>
        </p:grpSpPr>
        <p:sp>
          <p:nvSpPr>
            <p:cNvPr id="193" name="Google Shape;193;p17"/>
            <p:cNvSpPr/>
            <p:nvPr/>
          </p:nvSpPr>
          <p:spPr>
            <a:xfrm>
              <a:off x="0" y="0"/>
              <a:ext cx="5524500" cy="1714500"/>
            </a:xfrm>
            <a:prstGeom prst="roundRect">
              <a:avLst>
                <a:gd fmla="val 0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0" y="0"/>
              <a:ext cx="5524500" cy="28500"/>
            </a:xfrm>
            <a:prstGeom prst="rect">
              <a:avLst/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7"/>
            <p:cNvSpPr txBox="1"/>
            <p:nvPr/>
          </p:nvSpPr>
          <p:spPr>
            <a:xfrm>
              <a:off x="190500" y="152400"/>
              <a:ext cx="5143500" cy="14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33">
                  <a:solidFill>
                    <a:srgbClr val="111827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02 / GRAPH FUSION</a:t>
              </a:r>
              <a:endParaRPr b="0" sz="833">
                <a:solidFill>
                  <a:srgbClr val="111827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971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Multi-Signal Network Synthesis</a:t>
              </a:r>
              <a:endParaRPr b="1" sz="971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92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Builds five distinct temporal networks—fusing them into an undirected graph while pruning accidental coincidences:</a:t>
              </a:r>
              <a:endParaRPr b="0" sz="92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0833" lvl="0" marL="457200" rtl="0" algn="l">
                <a:spcBef>
                  <a:spcPts val="450"/>
                </a:spcBef>
                <a:spcAft>
                  <a:spcPts val="0"/>
                </a:spcAft>
                <a:buSzPts val="1295"/>
                <a:buChar char="●"/>
              </a:pPr>
              <a:r>
                <a:rPr b="0" lang="en-GB" sz="92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Identical Text &amp; Near-Identical Text</a:t>
              </a:r>
              <a:endParaRPr b="0" sz="92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0833" lvl="0" marL="457200" rtl="0" algn="l">
                <a:spcBef>
                  <a:spcPts val="150"/>
                </a:spcBef>
                <a:spcAft>
                  <a:spcPts val="0"/>
                </a:spcAft>
                <a:buSzPts val="1295"/>
                <a:buChar char="●"/>
              </a:pPr>
              <a:r>
                <a:rPr b="0" lang="en-GB" sz="92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Shared URLs &amp; Co-Retweets</a:t>
              </a:r>
              <a:endParaRPr b="0" sz="92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0833" lvl="0" marL="457200" rtl="0" algn="l">
                <a:spcBef>
                  <a:spcPts val="150"/>
                </a:spcBef>
                <a:spcAft>
                  <a:spcPts val="0"/>
                </a:spcAft>
                <a:buSzPts val="1295"/>
                <a:buChar char="●"/>
              </a:pPr>
              <a:r>
                <a:rPr b="0" lang="en-GB" sz="92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Reply Pile-Ons</a:t>
              </a:r>
              <a:endParaRPr b="0" sz="92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6" name="Google Shape;196;p17"/>
          <p:cNvGrpSpPr/>
          <p:nvPr/>
        </p:nvGrpSpPr>
        <p:grpSpPr>
          <a:xfrm>
            <a:off x="457200" y="3067050"/>
            <a:ext cx="2552700" cy="1714500"/>
            <a:chOff x="0" y="0"/>
            <a:chExt cx="2552700" cy="1714500"/>
          </a:xfrm>
        </p:grpSpPr>
        <p:sp>
          <p:nvSpPr>
            <p:cNvPr id="197" name="Google Shape;197;p17"/>
            <p:cNvSpPr/>
            <p:nvPr/>
          </p:nvSpPr>
          <p:spPr>
            <a:xfrm>
              <a:off x="0" y="0"/>
              <a:ext cx="2552700" cy="1714500"/>
            </a:xfrm>
            <a:prstGeom prst="roundRect">
              <a:avLst>
                <a:gd fmla="val 0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0" y="0"/>
              <a:ext cx="38100" cy="1714500"/>
            </a:xfrm>
            <a:prstGeom prst="rect">
              <a:avLst/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7"/>
            <p:cNvSpPr txBox="1"/>
            <p:nvPr/>
          </p:nvSpPr>
          <p:spPr>
            <a:xfrm>
              <a:off x="190500" y="152400"/>
              <a:ext cx="2209800" cy="14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111827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03 / DETECTION &amp; SCORING</a:t>
              </a:r>
              <a:endParaRPr b="0" sz="900">
                <a:solidFill>
                  <a:srgbClr val="111827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Louvain Modularity &amp; CIB Risk</a:t>
              </a:r>
              <a:endParaRPr b="1" sz="10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Deterministic Louvain Modularity partitions accounts into isolated campaigns, calculating a </a:t>
              </a:r>
              <a:r>
                <a:rPr b="1" lang="en-GB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0–100 CIB risk score</a:t>
              </a:r>
              <a:r>
                <a:rPr b="0" lang="en-GB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based on:</a:t>
              </a:r>
              <a:endParaRPr b="0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-GB" sz="850">
                  <a:solidFill>
                    <a:srgbClr val="DC2626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SPEED • DUPLICATION • BURST • FRESHNESS</a:t>
              </a:r>
              <a:endParaRPr b="0" sz="850">
                <a:solidFill>
                  <a:srgbClr val="DC2626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</p:grpSp>
      <p:grpSp>
        <p:nvGrpSpPr>
          <p:cNvPr id="200" name="Google Shape;200;p17"/>
          <p:cNvGrpSpPr/>
          <p:nvPr/>
        </p:nvGrpSpPr>
        <p:grpSpPr>
          <a:xfrm>
            <a:off x="3162300" y="3067050"/>
            <a:ext cx="2628900" cy="1714500"/>
            <a:chOff x="0" y="0"/>
            <a:chExt cx="2628900" cy="1714500"/>
          </a:xfrm>
        </p:grpSpPr>
        <p:sp>
          <p:nvSpPr>
            <p:cNvPr id="201" name="Google Shape;201;p17"/>
            <p:cNvSpPr/>
            <p:nvPr/>
          </p:nvSpPr>
          <p:spPr>
            <a:xfrm>
              <a:off x="0" y="0"/>
              <a:ext cx="2628900" cy="1714500"/>
            </a:xfrm>
            <a:prstGeom prst="roundRect">
              <a:avLst>
                <a:gd fmla="val 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0" y="0"/>
              <a:ext cx="2628900" cy="285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7"/>
            <p:cNvSpPr txBox="1"/>
            <p:nvPr/>
          </p:nvSpPr>
          <p:spPr>
            <a:xfrm>
              <a:off x="152400" y="152400"/>
              <a:ext cx="2324100" cy="14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2563EB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04 / REASONING ENGINE</a:t>
              </a:r>
              <a:endParaRPr b="0" sz="900">
                <a:solidFill>
                  <a:srgbClr val="2563E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IBM Bob CLI Intelligence</a:t>
              </a:r>
              <a:endParaRPr b="1" sz="10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-GB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The IBM Bob Reasoning Engine uses headless CLI execution with prompt guardrails to extract detailed event parameters and context from isolated campaign networks.</a:t>
              </a:r>
              <a:endParaRPr b="0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4" name="Google Shape;204;p17"/>
          <p:cNvGrpSpPr/>
          <p:nvPr/>
        </p:nvGrpSpPr>
        <p:grpSpPr>
          <a:xfrm>
            <a:off x="5943600" y="3067050"/>
            <a:ext cx="2743200" cy="1714500"/>
            <a:chOff x="0" y="0"/>
            <a:chExt cx="2743200" cy="1714500"/>
          </a:xfrm>
        </p:grpSpPr>
        <p:sp>
          <p:nvSpPr>
            <p:cNvPr id="205" name="Google Shape;205;p17"/>
            <p:cNvSpPr/>
            <p:nvPr/>
          </p:nvSpPr>
          <p:spPr>
            <a:xfrm>
              <a:off x="0" y="0"/>
              <a:ext cx="2743200" cy="1714500"/>
            </a:xfrm>
            <a:prstGeom prst="roundRect">
              <a:avLst>
                <a:gd fmla="val 0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0" y="0"/>
              <a:ext cx="2743200" cy="28500"/>
            </a:xfrm>
            <a:prstGeom prst="rect">
              <a:avLst/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7"/>
            <p:cNvSpPr txBox="1"/>
            <p:nvPr/>
          </p:nvSpPr>
          <p:spPr>
            <a:xfrm>
              <a:off x="152400" y="152400"/>
              <a:ext cx="2438400" cy="14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111827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05 / DISSEMINATION</a:t>
              </a:r>
              <a:endParaRPr b="0" sz="900">
                <a:solidFill>
                  <a:srgbClr val="111827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Interactive Visualization</a:t>
              </a:r>
              <a:endParaRPr b="1" sz="10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-GB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Disseminates forensic findings and campaign intelligence via a responsive React 19 interactive topology interface for real-time investigation.</a:t>
              </a:r>
              <a:endParaRPr b="0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3" name="Google Shape;213;p18"/>
          <p:cNvGrpSpPr/>
          <p:nvPr/>
        </p:nvGrpSpPr>
        <p:grpSpPr>
          <a:xfrm>
            <a:off x="8420100" y="495300"/>
            <a:ext cx="333525" cy="266663"/>
            <a:chOff x="38100" y="38100"/>
            <a:chExt cx="333525" cy="266663"/>
          </a:xfrm>
        </p:grpSpPr>
        <p:sp>
          <p:nvSpPr>
            <p:cNvPr id="214" name="Google Shape;214;p18"/>
            <p:cNvSpPr/>
            <p:nvPr/>
          </p:nvSpPr>
          <p:spPr>
            <a:xfrm>
              <a:off x="38100" y="38100"/>
              <a:ext cx="228600" cy="2286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8"/>
            <p:cNvSpPr/>
            <p:nvPr/>
          </p:nvSpPr>
          <p:spPr>
            <a:xfrm>
              <a:off x="114300" y="114300"/>
              <a:ext cx="76200" cy="76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8"/>
            <p:cNvSpPr/>
            <p:nvPr/>
          </p:nvSpPr>
          <p:spPr>
            <a:xfrm>
              <a:off x="233363" y="233363"/>
              <a:ext cx="71400" cy="714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FFFFFF"/>
            </a:solidFill>
            <a:ln cap="rnd" cmpd="sng" w="28575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8"/>
            <p:cNvSpPr/>
            <p:nvPr/>
          </p:nvSpPr>
          <p:spPr>
            <a:xfrm>
              <a:off x="314325" y="85725"/>
              <a:ext cx="57300" cy="57300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8" name="Google Shape;218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8600" y="104775"/>
              <a:ext cx="85800" cy="192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19" name="Google Shape;219;p18"/>
          <p:cNvCxnSpPr/>
          <p:nvPr/>
        </p:nvCxnSpPr>
        <p:spPr>
          <a:xfrm>
            <a:off x="457200" y="12382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18"/>
          <p:cNvSpPr txBox="1"/>
          <p:nvPr/>
        </p:nvSpPr>
        <p:spPr>
          <a:xfrm>
            <a:off x="457200" y="457200"/>
            <a:ext cx="7715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Forensic Spread Profiling &amp; Chain-of-Custody</a:t>
            </a:r>
            <a:endParaRPr b="0" sz="2400">
              <a:solidFill>
                <a:srgbClr val="111827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GB" sz="13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Clear chain-of-custody tracking from the initial instigator to mass viral amplification.</a:t>
            </a:r>
            <a:endParaRPr b="0" sz="130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221" name="Google Shape;221;p18"/>
          <p:cNvGrpSpPr/>
          <p:nvPr/>
        </p:nvGrpSpPr>
        <p:grpSpPr>
          <a:xfrm>
            <a:off x="457200" y="1476375"/>
            <a:ext cx="3905400" cy="3276600"/>
            <a:chOff x="0" y="0"/>
            <a:chExt cx="3905400" cy="3276600"/>
          </a:xfrm>
        </p:grpSpPr>
        <p:sp>
          <p:nvSpPr>
            <p:cNvPr id="222" name="Google Shape;222;p18"/>
            <p:cNvSpPr txBox="1"/>
            <p:nvPr/>
          </p:nvSpPr>
          <p:spPr>
            <a:xfrm>
              <a:off x="0" y="0"/>
              <a:ext cx="3905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2563EB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// AMPLIFICATION DETECTION STACK</a:t>
              </a:r>
              <a:endParaRPr b="0" sz="1000">
                <a:solidFill>
                  <a:srgbClr val="2563E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  <p:grpSp>
          <p:nvGrpSpPr>
            <p:cNvPr id="223" name="Google Shape;223;p18"/>
            <p:cNvGrpSpPr/>
            <p:nvPr/>
          </p:nvGrpSpPr>
          <p:grpSpPr>
            <a:xfrm>
              <a:off x="0" y="304800"/>
              <a:ext cx="3905400" cy="914400"/>
              <a:chOff x="0" y="0"/>
              <a:chExt cx="3905400" cy="914400"/>
            </a:xfrm>
          </p:grpSpPr>
          <p:sp>
            <p:nvSpPr>
              <p:cNvPr id="224" name="Google Shape;224;p18"/>
              <p:cNvSpPr/>
              <p:nvPr/>
            </p:nvSpPr>
            <p:spPr>
              <a:xfrm>
                <a:off x="0" y="0"/>
                <a:ext cx="3905400" cy="914400"/>
              </a:xfrm>
              <a:prstGeom prst="roundRect">
                <a:avLst>
                  <a:gd fmla="val 0" name="adj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8"/>
              <p:cNvSpPr/>
              <p:nvPr/>
            </p:nvSpPr>
            <p:spPr>
              <a:xfrm>
                <a:off x="0" y="0"/>
                <a:ext cx="38100" cy="9144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8"/>
              <p:cNvSpPr txBox="1"/>
              <p:nvPr/>
            </p:nvSpPr>
            <p:spPr>
              <a:xfrm>
                <a:off x="152400" y="114300"/>
                <a:ext cx="36006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1. Origin Seed Pinpointing</a:t>
                </a:r>
                <a:endParaRPr b="1" sz="11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Chronologically isolates the first accounts that ignited a campaign, instantly flagging throwaway bot seeds based on account age.</a:t>
                </a:r>
                <a:endParaRPr b="0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27" name="Google Shape;227;p18"/>
            <p:cNvGrpSpPr/>
            <p:nvPr/>
          </p:nvGrpSpPr>
          <p:grpSpPr>
            <a:xfrm>
              <a:off x="0" y="1333500"/>
              <a:ext cx="3905400" cy="914400"/>
              <a:chOff x="0" y="0"/>
              <a:chExt cx="3905400" cy="914400"/>
            </a:xfrm>
          </p:grpSpPr>
          <p:sp>
            <p:nvSpPr>
              <p:cNvPr id="228" name="Google Shape;228;p18"/>
              <p:cNvSpPr/>
              <p:nvPr/>
            </p:nvSpPr>
            <p:spPr>
              <a:xfrm>
                <a:off x="0" y="0"/>
                <a:ext cx="3905400" cy="914400"/>
              </a:xfrm>
              <a:prstGeom prst="roundRect">
                <a:avLst>
                  <a:gd fmla="val 0" name="adj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8"/>
              <p:cNvSpPr/>
              <p:nvPr/>
            </p:nvSpPr>
            <p:spPr>
              <a:xfrm>
                <a:off x="0" y="0"/>
                <a:ext cx="38100" cy="9144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8"/>
              <p:cNvSpPr txBox="1"/>
              <p:nvPr/>
            </p:nvSpPr>
            <p:spPr>
              <a:xfrm>
                <a:off x="152400" y="114300"/>
                <a:ext cx="36006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2. Network Hub Identification</a:t>
                </a:r>
                <a:endParaRPr b="1" sz="11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Highlights high-degree amplifier nodes that repeatedly retweet and quote in synchrony to manipulate reach.</a:t>
                </a:r>
                <a:endParaRPr b="0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1" name="Google Shape;231;p18"/>
            <p:cNvGrpSpPr/>
            <p:nvPr/>
          </p:nvGrpSpPr>
          <p:grpSpPr>
            <a:xfrm>
              <a:off x="0" y="2362200"/>
              <a:ext cx="3905400" cy="914400"/>
              <a:chOff x="0" y="0"/>
              <a:chExt cx="3905400" cy="914400"/>
            </a:xfrm>
          </p:grpSpPr>
          <p:sp>
            <p:nvSpPr>
              <p:cNvPr id="232" name="Google Shape;232;p18"/>
              <p:cNvSpPr/>
              <p:nvPr/>
            </p:nvSpPr>
            <p:spPr>
              <a:xfrm>
                <a:off x="0" y="0"/>
                <a:ext cx="3905400" cy="914400"/>
              </a:xfrm>
              <a:prstGeom prst="roundRect">
                <a:avLst>
                  <a:gd fmla="val 0" name="adj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8"/>
              <p:cNvSpPr/>
              <p:nvPr/>
            </p:nvSpPr>
            <p:spPr>
              <a:xfrm>
                <a:off x="0" y="0"/>
                <a:ext cx="38100" cy="9144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8"/>
              <p:cNvSpPr txBox="1"/>
              <p:nvPr/>
            </p:nvSpPr>
            <p:spPr>
              <a:xfrm>
                <a:off x="152400" y="114300"/>
                <a:ext cx="36006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3. Cross-Channel Hop Sequence</a:t>
                </a:r>
                <a:endParaRPr b="1" sz="11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Maps cross-channel information diffusion across multiple platforms and distinct geographic locations in real time.</a:t>
                </a:r>
                <a:endParaRPr b="0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35" name="Google Shape;235;p18"/>
          <p:cNvGrpSpPr/>
          <p:nvPr/>
        </p:nvGrpSpPr>
        <p:grpSpPr>
          <a:xfrm>
            <a:off x="4648200" y="1476375"/>
            <a:ext cx="4038600" cy="3276600"/>
            <a:chOff x="0" y="0"/>
            <a:chExt cx="4038600" cy="3276600"/>
          </a:xfrm>
        </p:grpSpPr>
        <p:sp>
          <p:nvSpPr>
            <p:cNvPr id="236" name="Google Shape;236;p18"/>
            <p:cNvSpPr txBox="1"/>
            <p:nvPr/>
          </p:nvSpPr>
          <p:spPr>
            <a:xfrm>
              <a:off x="0" y="0"/>
              <a:ext cx="403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DC2626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// CRITICAL INCIDENT RESPONSE</a:t>
              </a:r>
              <a:endParaRPr b="0" sz="1000">
                <a:solidFill>
                  <a:srgbClr val="DC2626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  <p:grpSp>
          <p:nvGrpSpPr>
            <p:cNvPr id="237" name="Google Shape;237;p18"/>
            <p:cNvGrpSpPr/>
            <p:nvPr/>
          </p:nvGrpSpPr>
          <p:grpSpPr>
            <a:xfrm>
              <a:off x="0" y="304800"/>
              <a:ext cx="4038600" cy="2971800"/>
              <a:chOff x="0" y="0"/>
              <a:chExt cx="4038600" cy="2971800"/>
            </a:xfrm>
          </p:grpSpPr>
          <p:sp>
            <p:nvSpPr>
              <p:cNvPr id="238" name="Google Shape;238;p18"/>
              <p:cNvSpPr/>
              <p:nvPr/>
            </p:nvSpPr>
            <p:spPr>
              <a:xfrm>
                <a:off x="0" y="0"/>
                <a:ext cx="4038600" cy="2971800"/>
              </a:xfrm>
              <a:prstGeom prst="roundRect">
                <a:avLst>
                  <a:gd fmla="val 0" name="adj"/>
                </a:avLst>
              </a:prstGeom>
              <a:solidFill>
                <a:srgbClr val="FEF2F2"/>
              </a:solidFill>
              <a:ln cap="flat" cmpd="sng" w="9525">
                <a:solidFill>
                  <a:srgbClr val="FCA5A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8"/>
              <p:cNvSpPr/>
              <p:nvPr/>
            </p:nvSpPr>
            <p:spPr>
              <a:xfrm>
                <a:off x="0" y="0"/>
                <a:ext cx="4038600" cy="38100"/>
              </a:xfrm>
              <a:prstGeom prst="rect">
                <a:avLst/>
              </a:prstGeom>
              <a:solidFill>
                <a:srgbClr val="DC26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40" name="Google Shape;240;p18"/>
              <p:cNvGrpSpPr/>
              <p:nvPr/>
            </p:nvGrpSpPr>
            <p:grpSpPr>
              <a:xfrm>
                <a:off x="190500" y="190500"/>
                <a:ext cx="3657600" cy="228600"/>
                <a:chOff x="0" y="0"/>
                <a:chExt cx="3657600" cy="228600"/>
              </a:xfrm>
            </p:grpSpPr>
            <p:grpSp>
              <p:nvGrpSpPr>
                <p:cNvPr id="241" name="Google Shape;241;p18"/>
                <p:cNvGrpSpPr/>
                <p:nvPr/>
              </p:nvGrpSpPr>
              <p:grpSpPr>
                <a:xfrm>
                  <a:off x="0" y="0"/>
                  <a:ext cx="228600" cy="228600"/>
                  <a:chOff x="0" y="0"/>
                  <a:chExt cx="228600" cy="228600"/>
                </a:xfrm>
              </p:grpSpPr>
              <p:sp>
                <p:nvSpPr>
                  <p:cNvPr id="242" name="Google Shape;242;p18"/>
                  <p:cNvSpPr/>
                  <p:nvPr/>
                </p:nvSpPr>
                <p:spPr>
                  <a:xfrm>
                    <a:off x="0" y="0"/>
                    <a:ext cx="228600" cy="228600"/>
                  </a:xfrm>
                  <a:prstGeom prst="roundRect">
                    <a:avLst>
                      <a:gd fmla="val 16666" name="adj"/>
                    </a:avLst>
                  </a:prstGeom>
                  <a:solidFill>
                    <a:srgbClr val="FEE2E2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3" name="Google Shape;243;p18"/>
                  <p:cNvSpPr/>
                  <p:nvPr/>
                </p:nvSpPr>
                <p:spPr>
                  <a:xfrm>
                    <a:off x="114300" y="57150"/>
                    <a:ext cx="0" cy="119100"/>
                  </a:xfrm>
                  <a:custGeom>
                    <a:rect b="b" l="l" r="r" t="t"/>
                    <a:pathLst>
                      <a:path extrusionOk="0" fill="none" h="120000" w="120000">
                        <a:moveTo>
                          <a:pt x="0" y="0"/>
                        </a:moveTo>
                        <a:lnTo>
                          <a:pt x="0" y="76800"/>
                        </a:lnTo>
                        <a:moveTo>
                          <a:pt x="0" y="115200"/>
                        </a:moveTo>
                        <a:lnTo>
                          <a:pt x="0" y="120000"/>
                        </a:lnTo>
                      </a:path>
                    </a:pathLst>
                  </a:custGeom>
                  <a:solidFill>
                    <a:srgbClr val="FFFFFF"/>
                  </a:solidFill>
                  <a:ln cap="rnd" cmpd="sng" w="19050">
                    <a:solidFill>
                      <a:srgbClr val="DC262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44" name="Google Shape;244;p18"/>
                <p:cNvSpPr txBox="1"/>
                <p:nvPr/>
              </p:nvSpPr>
              <p:spPr>
                <a:xfrm>
                  <a:off x="304800" y="19050"/>
                  <a:ext cx="33528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1100">
                      <a:solidFill>
                        <a:srgbClr val="DC2626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URGENT PRIORITY ALERT</a:t>
                  </a:r>
                  <a:endParaRPr b="1" sz="1100">
                    <a:solidFill>
                      <a:srgbClr val="DC2626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sp>
            <p:nvSpPr>
              <p:cNvPr id="245" name="Google Shape;245;p18"/>
              <p:cNvSpPr txBox="1"/>
              <p:nvPr/>
            </p:nvSpPr>
            <p:spPr>
              <a:xfrm>
                <a:off x="190500" y="533400"/>
                <a:ext cx="36576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991B1B"/>
                    </a:solidFill>
                    <a:latin typeface="Inter"/>
                    <a:ea typeface="Inter"/>
                    <a:cs typeface="Inter"/>
                    <a:sym typeface="Inter"/>
                  </a:rPr>
                  <a:t>Offline Threat Alerting &amp; Mobilization Flag</a:t>
                </a:r>
                <a:endParaRPr b="1" sz="1200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GB" sz="1000">
                    <a:solidFill>
                      <a:srgbClr val="7F1D1D"/>
                    </a:solidFill>
                    <a:latin typeface="Inter"/>
                    <a:ea typeface="Inter"/>
                    <a:cs typeface="Inter"/>
                    <a:sym typeface="Inter"/>
                  </a:rPr>
                  <a:t>Automated detection triggers when explicit offline threats are detected—such as coordinated calls to assemble with weapons at specific times and designated geographic locations.</a:t>
                </a:r>
                <a:endParaRPr b="0" sz="1000">
                  <a:solidFill>
                    <a:srgbClr val="7F1D1D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pic>
            <p:nvPicPr>
              <p:cNvPr id="246" name="Google Shape;246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90500" y="1671638"/>
                <a:ext cx="36387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47" name="Google Shape;247;p18"/>
              <p:cNvGrpSpPr/>
              <p:nvPr/>
            </p:nvGrpSpPr>
            <p:grpSpPr>
              <a:xfrm>
                <a:off x="190500" y="1809750"/>
                <a:ext cx="3657600" cy="952500"/>
                <a:chOff x="0" y="0"/>
                <a:chExt cx="3657600" cy="952500"/>
              </a:xfrm>
            </p:grpSpPr>
            <p:sp>
              <p:nvSpPr>
                <p:cNvPr id="248" name="Google Shape;248;p18"/>
                <p:cNvSpPr/>
                <p:nvPr/>
              </p:nvSpPr>
              <p:spPr>
                <a:xfrm>
                  <a:off x="0" y="0"/>
                  <a:ext cx="3657600" cy="9525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EF444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" name="Google Shape;249;p18"/>
                <p:cNvSpPr txBox="1"/>
                <p:nvPr/>
              </p:nvSpPr>
              <p:spPr>
                <a:xfrm>
                  <a:off x="152400" y="114300"/>
                  <a:ext cx="3352800" cy="72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900">
                      <a:solidFill>
                        <a:srgbClr val="DC2626"/>
                      </a:solidFill>
                      <a:latin typeface="JetBrains Mono Medium"/>
                      <a:ea typeface="JetBrains Mono Medium"/>
                      <a:cs typeface="JetBrains Mono Medium"/>
                      <a:sym typeface="JetBrains Mono Medium"/>
                    </a:rPr>
                    <a:t>ACTION PROTOCOL // IMMEDIATE DISPATCH</a:t>
                  </a:r>
                  <a:endParaRPr b="0" sz="900">
                    <a:solidFill>
                      <a:srgbClr val="DC2626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-GB" sz="950">
                      <a:solidFill>
                        <a:srgbClr val="111827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Triggers instant emergency dispatch instructions to ground security teams to mitigate physical mobilization before onset.</a:t>
                  </a:r>
                  <a:endParaRPr b="0" sz="95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55" name="Google Shape;255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6" name="Google Shape;256;p19"/>
            <p:cNvGrpSpPr/>
            <p:nvPr/>
          </p:nvGrpSpPr>
          <p:grpSpPr>
            <a:xfrm>
              <a:off x="8420100" y="419100"/>
              <a:ext cx="333525" cy="266663"/>
              <a:chOff x="38100" y="38100"/>
              <a:chExt cx="333525" cy="266663"/>
            </a:xfrm>
          </p:grpSpPr>
          <p:sp>
            <p:nvSpPr>
              <p:cNvPr id="257" name="Google Shape;257;p19"/>
              <p:cNvSpPr/>
              <p:nvPr/>
            </p:nvSpPr>
            <p:spPr>
              <a:xfrm>
                <a:off x="38100" y="38100"/>
                <a:ext cx="228600" cy="2286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28575">
                <a:solidFill>
                  <a:srgbClr val="11182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9"/>
              <p:cNvSpPr/>
              <p:nvPr/>
            </p:nvSpPr>
            <p:spPr>
              <a:xfrm>
                <a:off x="114300" y="114300"/>
                <a:ext cx="76200" cy="762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9"/>
              <p:cNvSpPr/>
              <p:nvPr/>
            </p:nvSpPr>
            <p:spPr>
              <a:xfrm>
                <a:off x="233363" y="233363"/>
                <a:ext cx="71400" cy="714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FFFFFF"/>
              </a:solidFill>
              <a:ln cap="rnd" cmpd="sng" w="28575">
                <a:solidFill>
                  <a:srgbClr val="11182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19"/>
              <p:cNvSpPr/>
              <p:nvPr/>
            </p:nvSpPr>
            <p:spPr>
              <a:xfrm>
                <a:off x="314325" y="85725"/>
                <a:ext cx="57300" cy="57300"/>
              </a:xfrm>
              <a:prstGeom prst="ellipse">
                <a:avLst/>
              </a:prstGeom>
              <a:solidFill>
                <a:srgbClr val="DC26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61" name="Google Shape;261;p1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28600" y="104775"/>
                <a:ext cx="858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262" name="Google Shape;262;p19"/>
            <p:cNvCxnSpPr/>
            <p:nvPr/>
          </p:nvCxnSpPr>
          <p:spPr>
            <a:xfrm>
              <a:off x="457200" y="12192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63" name="Google Shape;263;p19"/>
          <p:cNvSpPr txBox="1"/>
          <p:nvPr/>
        </p:nvSpPr>
        <p:spPr>
          <a:xfrm>
            <a:off x="457200" y="381000"/>
            <a:ext cx="7715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IBM Bob</a:t>
            </a:r>
            <a:r>
              <a:rPr lang="en-GB" sz="2400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</a:t>
            </a:r>
            <a:r>
              <a:rPr b="0" lang="en-GB" sz="2400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Architecture</a:t>
            </a:r>
            <a:endParaRPr b="0" sz="2400">
              <a:solidFill>
                <a:srgbClr val="111827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GB" sz="13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Engineered on IBM Bob and Granite Architecture for police-grade analytical rigor.</a:t>
            </a:r>
            <a:endParaRPr b="0" sz="130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264" name="Google Shape;264;p19"/>
          <p:cNvGrpSpPr/>
          <p:nvPr/>
        </p:nvGrpSpPr>
        <p:grpSpPr>
          <a:xfrm>
            <a:off x="457200" y="1447800"/>
            <a:ext cx="3962400" cy="3314700"/>
            <a:chOff x="0" y="0"/>
            <a:chExt cx="3962400" cy="3314700"/>
          </a:xfrm>
        </p:grpSpPr>
        <p:grpSp>
          <p:nvGrpSpPr>
            <p:cNvPr id="265" name="Google Shape;265;p19"/>
            <p:cNvGrpSpPr/>
            <p:nvPr/>
          </p:nvGrpSpPr>
          <p:grpSpPr>
            <a:xfrm>
              <a:off x="0" y="0"/>
              <a:ext cx="3962400" cy="952500"/>
              <a:chOff x="0" y="0"/>
              <a:chExt cx="3962400" cy="952500"/>
            </a:xfrm>
          </p:grpSpPr>
          <p:sp>
            <p:nvSpPr>
              <p:cNvPr id="266" name="Google Shape;266;p19"/>
              <p:cNvSpPr/>
              <p:nvPr/>
            </p:nvSpPr>
            <p:spPr>
              <a:xfrm>
                <a:off x="0" y="0"/>
                <a:ext cx="3962400" cy="952500"/>
              </a:xfrm>
              <a:prstGeom prst="rect">
                <a:avLst/>
              </a:prstGeom>
              <a:solidFill>
                <a:srgbClr val="F3F4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9"/>
              <p:cNvSpPr/>
              <p:nvPr/>
            </p:nvSpPr>
            <p:spPr>
              <a:xfrm>
                <a:off x="0" y="0"/>
                <a:ext cx="38100" cy="9525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19"/>
              <p:cNvSpPr txBox="1"/>
              <p:nvPr/>
            </p:nvSpPr>
            <p:spPr>
              <a:xfrm>
                <a:off x="190500" y="133350"/>
                <a:ext cx="3581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79">
                    <a:solidFill>
                      <a:srgbClr val="2563EB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01 // AUTOMATED INFERENCE</a:t>
                </a:r>
                <a:endParaRPr b="0" sz="879">
                  <a:solidFill>
                    <a:srgbClr val="2563EB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GB" sz="971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Headless IBM Bob CLI</a:t>
                </a:r>
                <a:endParaRPr b="1" sz="971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971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Provides fully automated, zero-latency inference integrated directly via JSON streaming.</a:t>
                </a:r>
                <a:endParaRPr b="0" sz="971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69" name="Google Shape;269;p19"/>
            <p:cNvGrpSpPr/>
            <p:nvPr/>
          </p:nvGrpSpPr>
          <p:grpSpPr>
            <a:xfrm>
              <a:off x="0" y="1104900"/>
              <a:ext cx="3962400" cy="952500"/>
              <a:chOff x="0" y="0"/>
              <a:chExt cx="3962400" cy="952500"/>
            </a:xfrm>
          </p:grpSpPr>
          <p:sp>
            <p:nvSpPr>
              <p:cNvPr id="270" name="Google Shape;270;p19"/>
              <p:cNvSpPr/>
              <p:nvPr/>
            </p:nvSpPr>
            <p:spPr>
              <a:xfrm>
                <a:off x="0" y="0"/>
                <a:ext cx="3962400" cy="952500"/>
              </a:xfrm>
              <a:prstGeom prst="rect">
                <a:avLst/>
              </a:prstGeom>
              <a:solidFill>
                <a:srgbClr val="F3F4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19"/>
              <p:cNvSpPr/>
              <p:nvPr/>
            </p:nvSpPr>
            <p:spPr>
              <a:xfrm>
                <a:off x="0" y="0"/>
                <a:ext cx="38100" cy="952500"/>
              </a:xfrm>
              <a:prstGeom prst="rect">
                <a:avLst/>
              </a:prstGeom>
              <a:solidFill>
                <a:srgbClr val="11182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19"/>
              <p:cNvSpPr txBox="1"/>
              <p:nvPr/>
            </p:nvSpPr>
            <p:spPr>
              <a:xfrm>
                <a:off x="190500" y="133350"/>
                <a:ext cx="3581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79">
                    <a:solidFill>
                      <a:srgbClr val="111827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02 // RIGOROUS OSINT</a:t>
                </a:r>
                <a:endParaRPr b="0" sz="879">
                  <a:solidFill>
                    <a:srgbClr val="111827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GB" sz="971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Custom OSINT Analyst Personality</a:t>
                </a:r>
                <a:endParaRPr b="1" sz="971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971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Enforces strict evidence grounding, legal citation accuracy, and zero hallucinations.</a:t>
                </a:r>
                <a:endParaRPr b="0" sz="971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73" name="Google Shape;273;p19"/>
            <p:cNvGrpSpPr/>
            <p:nvPr/>
          </p:nvGrpSpPr>
          <p:grpSpPr>
            <a:xfrm>
              <a:off x="0" y="2209800"/>
              <a:ext cx="3962400" cy="1104900"/>
              <a:chOff x="0" y="0"/>
              <a:chExt cx="3962400" cy="1104900"/>
            </a:xfrm>
          </p:grpSpPr>
          <p:sp>
            <p:nvSpPr>
              <p:cNvPr id="274" name="Google Shape;274;p19"/>
              <p:cNvSpPr/>
              <p:nvPr/>
            </p:nvSpPr>
            <p:spPr>
              <a:xfrm>
                <a:off x="0" y="0"/>
                <a:ext cx="3962400" cy="1104900"/>
              </a:xfrm>
              <a:prstGeom prst="rect">
                <a:avLst/>
              </a:prstGeom>
              <a:solidFill>
                <a:srgbClr val="F3F4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9"/>
              <p:cNvSpPr/>
              <p:nvPr/>
            </p:nvSpPr>
            <p:spPr>
              <a:xfrm>
                <a:off x="0" y="0"/>
                <a:ext cx="38100" cy="1104900"/>
              </a:xfrm>
              <a:prstGeom prst="rect">
                <a:avLst/>
              </a:prstGeom>
              <a:solidFill>
                <a:srgbClr val="DC26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19"/>
              <p:cNvSpPr txBox="1"/>
              <p:nvPr/>
            </p:nvSpPr>
            <p:spPr>
              <a:xfrm>
                <a:off x="190500" y="133350"/>
                <a:ext cx="35814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71">
                    <a:solidFill>
                      <a:srgbClr val="DC2626"/>
                    </a:solidFill>
                    <a:latin typeface="Inter"/>
                    <a:ea typeface="Inter"/>
                    <a:cs typeface="Inter"/>
                    <a:sym typeface="Inter"/>
                  </a:rPr>
                  <a:t>03 // CROSS-EXAMINATION</a:t>
                </a:r>
                <a:endParaRPr b="1" sz="971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GB" sz="971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Python Guardrails</a:t>
                </a:r>
                <a:endParaRPr b="1" sz="971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971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Deterministically cross-examines Bob’s extracted event locations and quotes against actual ingested database rows.</a:t>
                </a:r>
                <a:endParaRPr b="0" sz="971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77" name="Google Shape;277;p19"/>
          <p:cNvGrpSpPr/>
          <p:nvPr/>
        </p:nvGrpSpPr>
        <p:grpSpPr>
          <a:xfrm>
            <a:off x="4724400" y="1447800"/>
            <a:ext cx="3962400" cy="3314700"/>
            <a:chOff x="0" y="0"/>
            <a:chExt cx="3962400" cy="3314700"/>
          </a:xfrm>
        </p:grpSpPr>
        <p:sp>
          <p:nvSpPr>
            <p:cNvPr id="278" name="Google Shape;278;p19"/>
            <p:cNvSpPr txBox="1"/>
            <p:nvPr/>
          </p:nvSpPr>
          <p:spPr>
            <a:xfrm>
              <a:off x="0" y="0"/>
              <a:ext cx="3962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111827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TECH STACK &amp; TOOLING</a:t>
              </a:r>
              <a:endParaRPr b="0" sz="950">
                <a:solidFill>
                  <a:srgbClr val="111827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  <p:grpSp>
          <p:nvGrpSpPr>
            <p:cNvPr id="279" name="Google Shape;279;p19"/>
            <p:cNvGrpSpPr/>
            <p:nvPr/>
          </p:nvGrpSpPr>
          <p:grpSpPr>
            <a:xfrm>
              <a:off x="0" y="266700"/>
              <a:ext cx="1238400" cy="304800"/>
              <a:chOff x="0" y="0"/>
              <a:chExt cx="1238400" cy="304800"/>
            </a:xfrm>
          </p:grpSpPr>
          <p:sp>
            <p:nvSpPr>
              <p:cNvPr id="280" name="Google Shape;280;p19"/>
              <p:cNvSpPr/>
              <p:nvPr/>
            </p:nvSpPr>
            <p:spPr>
              <a:xfrm>
                <a:off x="0" y="0"/>
                <a:ext cx="1238400" cy="304800"/>
              </a:xfrm>
              <a:prstGeom prst="roundRect">
                <a:avLst>
                  <a:gd fmla="val 5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19"/>
              <p:cNvSpPr txBox="1"/>
              <p:nvPr/>
            </p:nvSpPr>
            <p:spPr>
              <a:xfrm>
                <a:off x="76200" y="57150"/>
                <a:ext cx="1086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2563EB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HEADLESS CLI</a:t>
                </a:r>
                <a:endParaRPr b="0" sz="800">
                  <a:solidFill>
                    <a:srgbClr val="2563EB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endParaRPr>
              </a:p>
            </p:txBody>
          </p:sp>
        </p:grpSp>
        <p:grpSp>
          <p:nvGrpSpPr>
            <p:cNvPr id="282" name="Google Shape;282;p19"/>
            <p:cNvGrpSpPr/>
            <p:nvPr/>
          </p:nvGrpSpPr>
          <p:grpSpPr>
            <a:xfrm>
              <a:off x="1314450" y="266700"/>
              <a:ext cx="1314600" cy="304800"/>
              <a:chOff x="0" y="0"/>
              <a:chExt cx="1314600" cy="304800"/>
            </a:xfrm>
          </p:grpSpPr>
          <p:sp>
            <p:nvSpPr>
              <p:cNvPr id="283" name="Google Shape;283;p19"/>
              <p:cNvSpPr/>
              <p:nvPr/>
            </p:nvSpPr>
            <p:spPr>
              <a:xfrm>
                <a:off x="0" y="0"/>
                <a:ext cx="1314600" cy="304800"/>
              </a:xfrm>
              <a:prstGeom prst="roundRect">
                <a:avLst>
                  <a:gd fmla="val 5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19"/>
              <p:cNvSpPr txBox="1"/>
              <p:nvPr/>
            </p:nvSpPr>
            <p:spPr>
              <a:xfrm>
                <a:off x="76200" y="57150"/>
                <a:ext cx="11622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2563EB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JSON STREAMING</a:t>
                </a:r>
                <a:endParaRPr b="0" sz="800">
                  <a:solidFill>
                    <a:srgbClr val="2563EB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endParaRPr>
              </a:p>
            </p:txBody>
          </p:sp>
        </p:grpSp>
        <p:grpSp>
          <p:nvGrpSpPr>
            <p:cNvPr id="285" name="Google Shape;285;p19"/>
            <p:cNvGrpSpPr/>
            <p:nvPr/>
          </p:nvGrpSpPr>
          <p:grpSpPr>
            <a:xfrm>
              <a:off x="2705100" y="266700"/>
              <a:ext cx="1257300" cy="304800"/>
              <a:chOff x="0" y="0"/>
              <a:chExt cx="1257300" cy="304800"/>
            </a:xfrm>
          </p:grpSpPr>
          <p:sp>
            <p:nvSpPr>
              <p:cNvPr id="286" name="Google Shape;286;p19"/>
              <p:cNvSpPr/>
              <p:nvPr/>
            </p:nvSpPr>
            <p:spPr>
              <a:xfrm>
                <a:off x="0" y="0"/>
                <a:ext cx="1257300" cy="304800"/>
              </a:xfrm>
              <a:prstGeom prst="roundRect">
                <a:avLst>
                  <a:gd fmla="val 5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19"/>
              <p:cNvSpPr txBox="1"/>
              <p:nvPr/>
            </p:nvSpPr>
            <p:spPr>
              <a:xfrm>
                <a:off x="76200" y="57150"/>
                <a:ext cx="1104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2563EB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FASTMCP SERVER</a:t>
                </a:r>
                <a:endParaRPr b="0" sz="800">
                  <a:solidFill>
                    <a:srgbClr val="2563EB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endParaRPr>
              </a:p>
            </p:txBody>
          </p:sp>
        </p:grpSp>
        <p:grpSp>
          <p:nvGrpSpPr>
            <p:cNvPr id="288" name="Google Shape;288;p19"/>
            <p:cNvGrpSpPr/>
            <p:nvPr/>
          </p:nvGrpSpPr>
          <p:grpSpPr>
            <a:xfrm>
              <a:off x="0" y="666750"/>
              <a:ext cx="3962400" cy="705000"/>
              <a:chOff x="0" y="0"/>
              <a:chExt cx="3962400" cy="705000"/>
            </a:xfrm>
          </p:grpSpPr>
          <p:sp>
            <p:nvSpPr>
              <p:cNvPr id="289" name="Google Shape;289;p19"/>
              <p:cNvSpPr/>
              <p:nvPr/>
            </p:nvSpPr>
            <p:spPr>
              <a:xfrm>
                <a:off x="0" y="0"/>
                <a:ext cx="3962400" cy="705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19"/>
              <p:cNvSpPr txBox="1"/>
              <p:nvPr/>
            </p:nvSpPr>
            <p:spPr>
              <a:xfrm>
                <a:off x="152400" y="114300"/>
                <a:ext cx="36576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5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FastMCP Tool Server Capabilities</a:t>
                </a:r>
                <a:endParaRPr b="1" sz="10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95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Equips Bob with real-time access to query graph subgraphs and timeline buckets efficiently.</a:t>
                </a:r>
                <a:endParaRPr b="0" sz="9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91" name="Google Shape;291;p19"/>
            <p:cNvSpPr txBox="1"/>
            <p:nvPr/>
          </p:nvSpPr>
          <p:spPr>
            <a:xfrm>
              <a:off x="0" y="1543050"/>
              <a:ext cx="3962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111827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EVALUATION PERFORMANCE</a:t>
              </a:r>
              <a:endParaRPr b="0" sz="950">
                <a:solidFill>
                  <a:srgbClr val="111827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  <p:grpSp>
          <p:nvGrpSpPr>
            <p:cNvPr id="292" name="Google Shape;292;p19"/>
            <p:cNvGrpSpPr/>
            <p:nvPr/>
          </p:nvGrpSpPr>
          <p:grpSpPr>
            <a:xfrm>
              <a:off x="0" y="1790700"/>
              <a:ext cx="1905000" cy="1524000"/>
              <a:chOff x="0" y="0"/>
              <a:chExt cx="1905000" cy="1524000"/>
            </a:xfrm>
          </p:grpSpPr>
          <p:sp>
            <p:nvSpPr>
              <p:cNvPr id="293" name="Google Shape;293;p19"/>
              <p:cNvSpPr/>
              <p:nvPr/>
            </p:nvSpPr>
            <p:spPr>
              <a:xfrm>
                <a:off x="0" y="0"/>
                <a:ext cx="1905000" cy="1524000"/>
              </a:xfrm>
              <a:prstGeom prst="rect">
                <a:avLst/>
              </a:prstGeom>
              <a:solidFill>
                <a:srgbClr val="F3F4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0" y="0"/>
                <a:ext cx="38100" cy="15240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19"/>
              <p:cNvSpPr txBox="1"/>
              <p:nvPr/>
            </p:nvSpPr>
            <p:spPr>
              <a:xfrm>
                <a:off x="190500" y="190500"/>
                <a:ext cx="1524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3200">
                    <a:solidFill>
                      <a:srgbClr val="111827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15–25s</a:t>
                </a:r>
                <a:endParaRPr b="0" sz="3200">
                  <a:solidFill>
                    <a:srgbClr val="11182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GB" sz="950">
                    <a:solidFill>
                      <a:srgbClr val="2563EB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EXECUTION TIME</a:t>
                </a:r>
                <a:endParaRPr b="0" sz="950">
                  <a:solidFill>
                    <a:srgbClr val="2563EB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Highly efficient evaluation per incident.</a:t>
                </a:r>
                <a:endParaRPr b="0" sz="9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96" name="Google Shape;296;p19"/>
            <p:cNvGrpSpPr/>
            <p:nvPr/>
          </p:nvGrpSpPr>
          <p:grpSpPr>
            <a:xfrm>
              <a:off x="2057400" y="1790700"/>
              <a:ext cx="1905000" cy="1524000"/>
              <a:chOff x="0" y="0"/>
              <a:chExt cx="1905000" cy="1524000"/>
            </a:xfrm>
          </p:grpSpPr>
          <p:sp>
            <p:nvSpPr>
              <p:cNvPr id="297" name="Google Shape;297;p19"/>
              <p:cNvSpPr/>
              <p:nvPr/>
            </p:nvSpPr>
            <p:spPr>
              <a:xfrm>
                <a:off x="0" y="0"/>
                <a:ext cx="1905000" cy="1524000"/>
              </a:xfrm>
              <a:prstGeom prst="rect">
                <a:avLst/>
              </a:prstGeom>
              <a:solidFill>
                <a:srgbClr val="F3F4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>
                <a:off x="0" y="0"/>
                <a:ext cx="38100" cy="1524000"/>
              </a:xfrm>
              <a:prstGeom prst="rect">
                <a:avLst/>
              </a:prstGeom>
              <a:solidFill>
                <a:srgbClr val="11182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19"/>
              <p:cNvSpPr txBox="1"/>
              <p:nvPr/>
            </p:nvSpPr>
            <p:spPr>
              <a:xfrm>
                <a:off x="190500" y="190500"/>
                <a:ext cx="1524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960">
                    <a:solidFill>
                      <a:srgbClr val="111827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~0.03–0.04</a:t>
                </a:r>
                <a:endParaRPr b="0" sz="1960">
                  <a:solidFill>
                    <a:srgbClr val="11182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GB" sz="665">
                    <a:solidFill>
                      <a:srgbClr val="111827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BOBCOINS / INCIDENT</a:t>
                </a:r>
                <a:endParaRPr b="0" sz="665">
                  <a:solidFill>
                    <a:srgbClr val="111827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GB" sz="63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Low-cost forensic processing pipeline.</a:t>
                </a:r>
                <a:endParaRPr b="0" sz="63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5" name="Google Shape;305;p20"/>
          <p:cNvGrpSpPr/>
          <p:nvPr/>
        </p:nvGrpSpPr>
        <p:grpSpPr>
          <a:xfrm>
            <a:off x="8420100" y="419100"/>
            <a:ext cx="333525" cy="266663"/>
            <a:chOff x="38100" y="38100"/>
            <a:chExt cx="333525" cy="266663"/>
          </a:xfrm>
        </p:grpSpPr>
        <p:sp>
          <p:nvSpPr>
            <p:cNvPr id="306" name="Google Shape;306;p20"/>
            <p:cNvSpPr/>
            <p:nvPr/>
          </p:nvSpPr>
          <p:spPr>
            <a:xfrm>
              <a:off x="38100" y="38100"/>
              <a:ext cx="228600" cy="2286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114300" y="114300"/>
              <a:ext cx="76200" cy="76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233363" y="233363"/>
              <a:ext cx="71400" cy="714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FFFFFF"/>
            </a:solidFill>
            <a:ln cap="rnd" cmpd="sng" w="28575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314325" y="85725"/>
              <a:ext cx="57300" cy="57300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0" name="Google Shape;310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8600" y="104775"/>
              <a:ext cx="85800" cy="192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11" name="Google Shape;311;p20"/>
          <p:cNvCxnSpPr/>
          <p:nvPr/>
        </p:nvCxnSpPr>
        <p:spPr>
          <a:xfrm>
            <a:off x="457200" y="12382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20"/>
          <p:cNvSpPr txBox="1"/>
          <p:nvPr/>
        </p:nvSpPr>
        <p:spPr>
          <a:xfrm>
            <a:off x="457200" y="342900"/>
            <a:ext cx="77628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8">
                <a:solidFill>
                  <a:srgbClr val="2563E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OPERATIONAL INTELLIGENCE &amp; FORENSIC FRAMEWORK</a:t>
            </a:r>
            <a:endParaRPr b="0" sz="808">
              <a:solidFill>
                <a:srgbClr val="2563EB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GB" sz="1870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Delivering Measurable Forensic Superiority and Actionable Law Enforcement Guidance</a:t>
            </a:r>
            <a:endParaRPr b="0" sz="1870">
              <a:solidFill>
                <a:srgbClr val="111827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313" name="Google Shape;313;p20"/>
          <p:cNvGrpSpPr/>
          <p:nvPr/>
        </p:nvGrpSpPr>
        <p:grpSpPr>
          <a:xfrm>
            <a:off x="457200" y="1447800"/>
            <a:ext cx="3810000" cy="1047900"/>
            <a:chOff x="0" y="0"/>
            <a:chExt cx="3810000" cy="1047900"/>
          </a:xfrm>
        </p:grpSpPr>
        <p:sp>
          <p:nvSpPr>
            <p:cNvPr id="314" name="Google Shape;314;p20"/>
            <p:cNvSpPr/>
            <p:nvPr/>
          </p:nvSpPr>
          <p:spPr>
            <a:xfrm>
              <a:off x="0" y="0"/>
              <a:ext cx="3810000" cy="104790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0"/>
            <p:cNvSpPr/>
            <p:nvPr/>
          </p:nvSpPr>
          <p:spPr>
            <a:xfrm>
              <a:off x="0" y="0"/>
              <a:ext cx="38100" cy="10479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0"/>
            <p:cNvSpPr txBox="1"/>
            <p:nvPr/>
          </p:nvSpPr>
          <p:spPr>
            <a:xfrm>
              <a:off x="190500" y="152400"/>
              <a:ext cx="3467100" cy="74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08">
                  <a:solidFill>
                    <a:srgbClr val="2563EB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Early Warning Intelligence</a:t>
              </a:r>
              <a:endParaRPr b="0" sz="808">
                <a:solidFill>
                  <a:srgbClr val="2563E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893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Predictive Mobilization Detection</a:t>
              </a:r>
              <a:endParaRPr b="1" sz="893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808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Provides hours of early warning, detecting coordinated mobilization long before physical crowds converge on the ground.</a:t>
              </a:r>
              <a:endParaRPr b="0" sz="808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7" name="Google Shape;317;p20"/>
          <p:cNvGrpSpPr/>
          <p:nvPr/>
        </p:nvGrpSpPr>
        <p:grpSpPr>
          <a:xfrm>
            <a:off x="457200" y="2647950"/>
            <a:ext cx="3810000" cy="2000100"/>
            <a:chOff x="0" y="0"/>
            <a:chExt cx="3810000" cy="2000100"/>
          </a:xfrm>
        </p:grpSpPr>
        <p:sp>
          <p:nvSpPr>
            <p:cNvPr id="318" name="Google Shape;318;p20"/>
            <p:cNvSpPr/>
            <p:nvPr/>
          </p:nvSpPr>
          <p:spPr>
            <a:xfrm>
              <a:off x="0" y="0"/>
              <a:ext cx="3810000" cy="2000100"/>
            </a:xfrm>
            <a:prstGeom prst="rect">
              <a:avLst/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0"/>
            <p:cNvSpPr/>
            <p:nvPr/>
          </p:nvSpPr>
          <p:spPr>
            <a:xfrm>
              <a:off x="0" y="0"/>
              <a:ext cx="38100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0"/>
            <p:cNvSpPr txBox="1"/>
            <p:nvPr/>
          </p:nvSpPr>
          <p:spPr>
            <a:xfrm>
              <a:off x="190500" y="152400"/>
              <a:ext cx="3467100" cy="16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8">
                  <a:solidFill>
                    <a:srgbClr val="2563E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EXPLAINABLE THREAT METRICS</a:t>
              </a:r>
              <a:endParaRPr b="1" sz="808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221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0–100 CIB Score</a:t>
              </a:r>
              <a:endParaRPr b="0" sz="221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100% Explainable Coordinated Inauthentic Behavior Analysis</a:t>
              </a:r>
              <a:endParaRPr b="1" sz="8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808">
                  <a:solidFill>
                    <a:srgbClr val="1E40AF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01. SPEED:</a:t>
              </a:r>
              <a:r>
                <a:rPr b="0" lang="en-GB" sz="808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Velocity of network propagation &amp; amplification</a:t>
              </a:r>
              <a:endParaRPr b="0" sz="808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808">
                  <a:solidFill>
                    <a:srgbClr val="1E40AF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02. TEXT OVERLAP:</a:t>
              </a:r>
              <a:r>
                <a:rPr b="0" lang="en-GB" sz="808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Semantic cluster matching &amp; copy-paste campaigns</a:t>
              </a:r>
              <a:endParaRPr b="0" sz="808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808">
                  <a:solidFill>
                    <a:srgbClr val="1E40AF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03. ACCOUNT AGE:</a:t>
              </a:r>
              <a:r>
                <a:rPr b="0" lang="en-GB" sz="808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Synthetic account creation timeframe &amp; anonymity</a:t>
              </a:r>
              <a:endParaRPr b="0" sz="808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1" name="Google Shape;321;p20"/>
          <p:cNvGrpSpPr/>
          <p:nvPr/>
        </p:nvGrpSpPr>
        <p:grpSpPr>
          <a:xfrm>
            <a:off x="4495800" y="1447800"/>
            <a:ext cx="4191000" cy="952500"/>
            <a:chOff x="0" y="0"/>
            <a:chExt cx="4191000" cy="952500"/>
          </a:xfrm>
        </p:grpSpPr>
        <p:sp>
          <p:nvSpPr>
            <p:cNvPr id="322" name="Google Shape;322;p20"/>
            <p:cNvSpPr/>
            <p:nvPr/>
          </p:nvSpPr>
          <p:spPr>
            <a:xfrm>
              <a:off x="0" y="0"/>
              <a:ext cx="4191000" cy="9525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0"/>
            <p:cNvSpPr/>
            <p:nvPr/>
          </p:nvSpPr>
          <p:spPr>
            <a:xfrm>
              <a:off x="0" y="0"/>
              <a:ext cx="4191000" cy="228600"/>
            </a:xfrm>
            <a:prstGeom prst="rect">
              <a:avLst/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0"/>
            <p:cNvSpPr txBox="1"/>
            <p:nvPr/>
          </p:nvSpPr>
          <p:spPr>
            <a:xfrm>
              <a:off x="114300" y="28575"/>
              <a:ext cx="39624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FFFFFF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EVIDENCE ADMISSIBILITY | SECTION 63 BSA 2023</a:t>
              </a:r>
              <a:endParaRPr b="0" sz="850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  <p:sp>
          <p:nvSpPr>
            <p:cNvPr id="325" name="Google Shape;325;p20"/>
            <p:cNvSpPr txBox="1"/>
            <p:nvPr/>
          </p:nvSpPr>
          <p:spPr>
            <a:xfrm>
              <a:off x="152400" y="304800"/>
              <a:ext cx="3886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Cryptographic SHA-256 Evidence Hashing</a:t>
              </a:r>
              <a:endParaRPr b="1" sz="8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808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All captured intelligence is forensically admissible in court, backed by SHA-256 cryptographic hashes under Section 63 of the Bharatiya Sakshya Adhiniyam (BSA 2023).</a:t>
              </a:r>
              <a:endParaRPr b="0" sz="808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6" name="Google Shape;326;p20"/>
          <p:cNvGrpSpPr/>
          <p:nvPr/>
        </p:nvGrpSpPr>
        <p:grpSpPr>
          <a:xfrm>
            <a:off x="4495800" y="2552700"/>
            <a:ext cx="4191000" cy="1143000"/>
            <a:chOff x="0" y="0"/>
            <a:chExt cx="4191000" cy="1143000"/>
          </a:xfrm>
        </p:grpSpPr>
        <p:sp>
          <p:nvSpPr>
            <p:cNvPr id="327" name="Google Shape;327;p20"/>
            <p:cNvSpPr/>
            <p:nvPr/>
          </p:nvSpPr>
          <p:spPr>
            <a:xfrm>
              <a:off x="0" y="0"/>
              <a:ext cx="4191000" cy="11430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0"/>
            <p:cNvSpPr/>
            <p:nvPr/>
          </p:nvSpPr>
          <p:spPr>
            <a:xfrm>
              <a:off x="0" y="0"/>
              <a:ext cx="4191000" cy="228600"/>
            </a:xfrm>
            <a:prstGeom prst="rect">
              <a:avLst/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0"/>
            <p:cNvSpPr txBox="1"/>
            <p:nvPr/>
          </p:nvSpPr>
          <p:spPr>
            <a:xfrm>
              <a:off x="114300" y="28575"/>
              <a:ext cx="39624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FFFFFF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STATUTORY OFFENSES | BHARATIYA NYAYA SANHITA (BNS 2023)</a:t>
              </a:r>
              <a:endParaRPr b="0" sz="850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  <p:sp>
          <p:nvSpPr>
            <p:cNvPr id="330" name="Google Shape;330;p20"/>
            <p:cNvSpPr txBox="1"/>
            <p:nvPr/>
          </p:nvSpPr>
          <p:spPr>
            <a:xfrm>
              <a:off x="152400" y="304800"/>
              <a:ext cx="3886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25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Automated Mapping to Penal Offenses</a:t>
              </a:r>
              <a:endParaRPr b="1" sz="925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833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• BNS 196:</a:t>
              </a:r>
              <a:r>
                <a:rPr b="0" lang="en-GB" sz="879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Promoting enmity between different groups / communal enmity</a:t>
              </a:r>
              <a:endParaRPr b="0" sz="879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833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• BNS 353:</a:t>
              </a:r>
              <a:r>
                <a:rPr b="0" lang="en-GB" sz="879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Statements conducing to public mischief &amp; mass disaffection</a:t>
              </a:r>
              <a:endParaRPr b="0" sz="879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1" name="Google Shape;331;p20"/>
          <p:cNvGrpSpPr/>
          <p:nvPr/>
        </p:nvGrpSpPr>
        <p:grpSpPr>
          <a:xfrm>
            <a:off x="4495800" y="3848100"/>
            <a:ext cx="4191000" cy="800100"/>
            <a:chOff x="0" y="0"/>
            <a:chExt cx="4191000" cy="800100"/>
          </a:xfrm>
        </p:grpSpPr>
        <p:sp>
          <p:nvSpPr>
            <p:cNvPr id="332" name="Google Shape;332;p20"/>
            <p:cNvSpPr/>
            <p:nvPr/>
          </p:nvSpPr>
          <p:spPr>
            <a:xfrm>
              <a:off x="0" y="0"/>
              <a:ext cx="4191000" cy="8001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0"/>
            <p:cNvSpPr/>
            <p:nvPr/>
          </p:nvSpPr>
          <p:spPr>
            <a:xfrm>
              <a:off x="0" y="0"/>
              <a:ext cx="4191000" cy="228600"/>
            </a:xfrm>
            <a:prstGeom prst="rect">
              <a:avLst/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0"/>
            <p:cNvSpPr txBox="1"/>
            <p:nvPr/>
          </p:nvSpPr>
          <p:spPr>
            <a:xfrm>
              <a:off x="114300" y="28575"/>
              <a:ext cx="39624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FFFFFF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CYBER LAW PROSECUTION | IT ACT</a:t>
              </a:r>
              <a:endParaRPr b="0" sz="850">
                <a:solidFill>
                  <a:srgbClr val="FFFF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  <p:sp>
          <p:nvSpPr>
            <p:cNvPr id="335" name="Google Shape;335;p20"/>
            <p:cNvSpPr txBox="1"/>
            <p:nvPr/>
          </p:nvSpPr>
          <p:spPr>
            <a:xfrm>
              <a:off x="152400" y="304800"/>
              <a:ext cx="38862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25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IT Act Section 66D Mapping</a:t>
              </a:r>
              <a:endParaRPr b="1" sz="925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879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Direct evidentiary link for cheating by personation by using computer resources and bot networks.</a:t>
              </a:r>
              <a:endParaRPr b="0" sz="879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oogle Shape;340;p2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41" name="Google Shape;341;p2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2" name="Google Shape;342;p21"/>
            <p:cNvGrpSpPr/>
            <p:nvPr/>
          </p:nvGrpSpPr>
          <p:grpSpPr>
            <a:xfrm>
              <a:off x="8420100" y="495300"/>
              <a:ext cx="333525" cy="266663"/>
              <a:chOff x="38100" y="38100"/>
              <a:chExt cx="333525" cy="266663"/>
            </a:xfrm>
          </p:grpSpPr>
          <p:sp>
            <p:nvSpPr>
              <p:cNvPr id="343" name="Google Shape;343;p21"/>
              <p:cNvSpPr/>
              <p:nvPr/>
            </p:nvSpPr>
            <p:spPr>
              <a:xfrm>
                <a:off x="38100" y="38100"/>
                <a:ext cx="228600" cy="2286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28575">
                <a:solidFill>
                  <a:srgbClr val="11182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21"/>
              <p:cNvSpPr/>
              <p:nvPr/>
            </p:nvSpPr>
            <p:spPr>
              <a:xfrm>
                <a:off x="114300" y="114300"/>
                <a:ext cx="76200" cy="762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21"/>
              <p:cNvSpPr/>
              <p:nvPr/>
            </p:nvSpPr>
            <p:spPr>
              <a:xfrm>
                <a:off x="233363" y="233363"/>
                <a:ext cx="71400" cy="714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FFFFFF"/>
              </a:solidFill>
              <a:ln cap="rnd" cmpd="sng" w="28575">
                <a:solidFill>
                  <a:srgbClr val="11182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21"/>
              <p:cNvSpPr/>
              <p:nvPr/>
            </p:nvSpPr>
            <p:spPr>
              <a:xfrm>
                <a:off x="314325" y="85725"/>
                <a:ext cx="57300" cy="57300"/>
              </a:xfrm>
              <a:prstGeom prst="ellipse">
                <a:avLst/>
              </a:prstGeom>
              <a:solidFill>
                <a:srgbClr val="DC26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47" name="Google Shape;347;p2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28600" y="104775"/>
                <a:ext cx="858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348" name="Google Shape;348;p21"/>
            <p:cNvCxnSpPr/>
            <p:nvPr/>
          </p:nvCxnSpPr>
          <p:spPr>
            <a:xfrm>
              <a:off x="457200" y="13335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9" name="Google Shape;349;p21"/>
            <p:cNvCxnSpPr/>
            <p:nvPr/>
          </p:nvCxnSpPr>
          <p:spPr>
            <a:xfrm>
              <a:off x="4572000" y="1524000"/>
              <a:ext cx="0" cy="31623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50" name="Google Shape;350;p21"/>
          <p:cNvSpPr txBox="1"/>
          <p:nvPr/>
        </p:nvSpPr>
        <p:spPr>
          <a:xfrm>
            <a:off x="457200" y="342900"/>
            <a:ext cx="7715400" cy="72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00">
                <a:solidFill>
                  <a:srgbClr val="2563EB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TEAM SHIN-CHAN // HACKATHON ROLES &amp; RESPONSIBILITIES</a:t>
            </a:r>
            <a:endParaRPr b="0" sz="900">
              <a:solidFill>
                <a:srgbClr val="2563EB"/>
              </a:solidFill>
              <a:latin typeface="JetBrains Mono SemiBold"/>
              <a:ea typeface="JetBrains Mono SemiBold"/>
              <a:cs typeface="JetBrains Mono SemiBold"/>
              <a:sym typeface="JetBrains Mono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GB" sz="2400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Engineering Contributions &amp; Track Roles</a:t>
            </a:r>
            <a:endParaRPr b="0" sz="2400">
              <a:solidFill>
                <a:srgbClr val="111827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351" name="Google Shape;351;p21"/>
          <p:cNvGrpSpPr/>
          <p:nvPr/>
        </p:nvGrpSpPr>
        <p:grpSpPr>
          <a:xfrm>
            <a:off x="457200" y="1409700"/>
            <a:ext cx="3962400" cy="1562100"/>
            <a:chOff x="0" y="0"/>
            <a:chExt cx="3962400" cy="1562100"/>
          </a:xfrm>
        </p:grpSpPr>
        <p:sp>
          <p:nvSpPr>
            <p:cNvPr id="352" name="Google Shape;352;p21"/>
            <p:cNvSpPr/>
            <p:nvPr/>
          </p:nvSpPr>
          <p:spPr>
            <a:xfrm>
              <a:off x="0" y="0"/>
              <a:ext cx="3962400" cy="1562100"/>
            </a:xfrm>
            <a:prstGeom prst="roundRect">
              <a:avLst>
                <a:gd fmla="val 4878" name="adj"/>
              </a:avLst>
            </a:prstGeom>
            <a:solidFill>
              <a:srgbClr val="EFF6FF"/>
            </a:solidFill>
            <a:ln cap="flat" cmpd="sng" w="14300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1"/>
            <p:cNvSpPr/>
            <p:nvPr/>
          </p:nvSpPr>
          <p:spPr>
            <a:xfrm>
              <a:off x="0" y="0"/>
              <a:ext cx="47700" cy="15621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1"/>
            <p:cNvSpPr txBox="1"/>
            <p:nvPr/>
          </p:nvSpPr>
          <p:spPr>
            <a:xfrm>
              <a:off x="228600" y="152400"/>
              <a:ext cx="2819400" cy="12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2563E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01 // LEAD &amp; FORENSICS</a:t>
              </a:r>
              <a:endParaRPr b="1" sz="850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11182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Tirth Chokshi</a:t>
              </a:r>
              <a:endParaRPr b="0" sz="1400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Built the core pipeline architecture, 5-signal coordination graph engine, and explainable 6-factor CIB scoring formula.</a:t>
              </a:r>
              <a:endParaRPr b="0" sz="9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5" name="Google Shape;355;p21"/>
          <p:cNvGrpSpPr/>
          <p:nvPr/>
        </p:nvGrpSpPr>
        <p:grpSpPr>
          <a:xfrm>
            <a:off x="4724400" y="1409700"/>
            <a:ext cx="3962400" cy="1562100"/>
            <a:chOff x="0" y="0"/>
            <a:chExt cx="3962400" cy="1562100"/>
          </a:xfrm>
        </p:grpSpPr>
        <p:sp>
          <p:nvSpPr>
            <p:cNvPr id="356" name="Google Shape;356;p21"/>
            <p:cNvSpPr/>
            <p:nvPr/>
          </p:nvSpPr>
          <p:spPr>
            <a:xfrm>
              <a:off x="0" y="0"/>
              <a:ext cx="3962400" cy="1562100"/>
            </a:xfrm>
            <a:prstGeom prst="roundRect">
              <a:avLst>
                <a:gd fmla="val 487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1"/>
            <p:cNvSpPr/>
            <p:nvPr/>
          </p:nvSpPr>
          <p:spPr>
            <a:xfrm>
              <a:off x="0" y="0"/>
              <a:ext cx="47700" cy="15621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1"/>
            <p:cNvSpPr txBox="1"/>
            <p:nvPr/>
          </p:nvSpPr>
          <p:spPr>
            <a:xfrm>
              <a:off x="228600" y="152400"/>
              <a:ext cx="3505200" cy="12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2563E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02 // FRONTEND ENGINEERING</a:t>
              </a:r>
              <a:endParaRPr b="1" sz="850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11182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Milind Pawar</a:t>
              </a:r>
              <a:endParaRPr b="0" sz="1400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Developed the modern React 19 UI, interactive Cytoscape network graph, and 3-stage propagation flow view.</a:t>
              </a:r>
              <a:endParaRPr b="0" sz="9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9" name="Google Shape;359;p21"/>
          <p:cNvGrpSpPr/>
          <p:nvPr/>
        </p:nvGrpSpPr>
        <p:grpSpPr>
          <a:xfrm>
            <a:off x="457200" y="3162300"/>
            <a:ext cx="3962400" cy="1562100"/>
            <a:chOff x="0" y="0"/>
            <a:chExt cx="3962400" cy="1562100"/>
          </a:xfrm>
        </p:grpSpPr>
        <p:sp>
          <p:nvSpPr>
            <p:cNvPr id="360" name="Google Shape;360;p21"/>
            <p:cNvSpPr/>
            <p:nvPr/>
          </p:nvSpPr>
          <p:spPr>
            <a:xfrm>
              <a:off x="0" y="0"/>
              <a:ext cx="3962400" cy="1562100"/>
            </a:xfrm>
            <a:prstGeom prst="roundRect">
              <a:avLst>
                <a:gd fmla="val 487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1"/>
            <p:cNvSpPr/>
            <p:nvPr/>
          </p:nvSpPr>
          <p:spPr>
            <a:xfrm>
              <a:off x="0" y="0"/>
              <a:ext cx="47700" cy="15621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1"/>
            <p:cNvSpPr txBox="1"/>
            <p:nvPr/>
          </p:nvSpPr>
          <p:spPr>
            <a:xfrm>
              <a:off x="228600" y="152400"/>
              <a:ext cx="3505200" cy="12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2563E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03 // BOB LAYER &amp; MCP</a:t>
              </a:r>
              <a:endParaRPr b="1" sz="850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11182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Jainik Devada</a:t>
              </a:r>
              <a:endParaRPr b="0" sz="1400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Implemented headless IBM Bob CLI integration and automated BNS/IT Act legal statute mapping.</a:t>
              </a:r>
              <a:endParaRPr b="0" sz="9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3" name="Google Shape;363;p21"/>
          <p:cNvGrpSpPr/>
          <p:nvPr/>
        </p:nvGrpSpPr>
        <p:grpSpPr>
          <a:xfrm>
            <a:off x="4724400" y="3162300"/>
            <a:ext cx="3962400" cy="1562100"/>
            <a:chOff x="0" y="0"/>
            <a:chExt cx="3962400" cy="1562100"/>
          </a:xfrm>
        </p:grpSpPr>
        <p:sp>
          <p:nvSpPr>
            <p:cNvPr id="364" name="Google Shape;364;p21"/>
            <p:cNvSpPr/>
            <p:nvPr/>
          </p:nvSpPr>
          <p:spPr>
            <a:xfrm>
              <a:off x="0" y="0"/>
              <a:ext cx="3962400" cy="1562100"/>
            </a:xfrm>
            <a:prstGeom prst="roundRect">
              <a:avLst>
                <a:gd fmla="val 487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1"/>
            <p:cNvSpPr/>
            <p:nvPr/>
          </p:nvSpPr>
          <p:spPr>
            <a:xfrm>
              <a:off x="0" y="0"/>
              <a:ext cx="47700" cy="15621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1"/>
            <p:cNvSpPr txBox="1"/>
            <p:nvPr/>
          </p:nvSpPr>
          <p:spPr>
            <a:xfrm>
              <a:off x="228600" y="152400"/>
              <a:ext cx="3505200" cy="12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2563E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04 // DATA &amp; BENCHMARKING</a:t>
              </a:r>
              <a:endParaRPr b="1" sz="850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11182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Jigar Jariwala</a:t>
              </a:r>
              <a:endParaRPr b="0" sz="1400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Built </a:t>
              </a:r>
              <a:r>
                <a:rPr b="0" lang="en-GB" sz="9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the test harnesses, and historical real-world forensic scenario datasets.</a:t>
              </a:r>
              <a:endParaRPr b="0" sz="9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